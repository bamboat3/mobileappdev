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81" r:id="rId4"/>
    <p:sldId id="282" r:id="rId5"/>
    <p:sldId id="283" r:id="rId6"/>
    <p:sldId id="284" r:id="rId7"/>
    <p:sldId id="285" r:id="rId8"/>
    <p:sldId id="286" r:id="rId9"/>
    <p:sldId id="287" r:id="rId10"/>
    <p:sldId id="288" r:id="rId11"/>
    <p:sldId id="259" r:id="rId12"/>
    <p:sldId id="289" r:id="rId13"/>
    <p:sldId id="290" r:id="rId14"/>
    <p:sldId id="291" r:id="rId15"/>
    <p:sldId id="292" r:id="rId16"/>
    <p:sldId id="293" r:id="rId17"/>
    <p:sldId id="25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C0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673"/>
    <p:restoredTop sz="94694"/>
  </p:normalViewPr>
  <p:slideViewPr>
    <p:cSldViewPr snapToGrid="0">
      <p:cViewPr>
        <p:scale>
          <a:sx n="133" d="100"/>
          <a:sy n="133" d="100"/>
        </p:scale>
        <p:origin x="504" y="-2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C83ACF-19D0-E24D-8154-BABCE14F690B}" type="datetimeFigureOut">
              <a:rPr lang="en-US" smtClean="0"/>
              <a:t>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7A1CA5-E69A-9B4C-9163-04C60EE9DEFA}" type="slidenum">
              <a:rPr lang="en-US" smtClean="0"/>
              <a:t>‹#›</a:t>
            </a:fld>
            <a:endParaRPr lang="en-US"/>
          </a:p>
        </p:txBody>
      </p:sp>
    </p:spTree>
    <p:extLst>
      <p:ext uri="{BB962C8B-B14F-4D97-AF65-F5344CB8AC3E}">
        <p14:creationId xmlns:p14="http://schemas.microsoft.com/office/powerpoint/2010/main" val="517842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7A1CA5-E69A-9B4C-9163-04C60EE9DEFA}" type="slidenum">
              <a:rPr lang="en-US" smtClean="0"/>
              <a:t>17</a:t>
            </a:fld>
            <a:endParaRPr lang="en-US"/>
          </a:p>
        </p:txBody>
      </p:sp>
    </p:spTree>
    <p:extLst>
      <p:ext uri="{BB962C8B-B14F-4D97-AF65-F5344CB8AC3E}">
        <p14:creationId xmlns:p14="http://schemas.microsoft.com/office/powerpoint/2010/main" val="4064727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20B54-BF3C-35A0-1008-24A2DFE7B9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F9FD61E-FEC0-3BAF-C353-D84FC457FE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6579F-6F30-2AE8-66C8-079836C847DE}"/>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5" name="Footer Placeholder 4">
            <a:extLst>
              <a:ext uri="{FF2B5EF4-FFF2-40B4-BE49-F238E27FC236}">
                <a16:creationId xmlns:a16="http://schemas.microsoft.com/office/drawing/2014/main" id="{20FE3191-0B4C-F49F-5693-1D6700DBEE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C39600-0D8D-CBB3-A5F1-35B8C1069EB7}"/>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3137772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CCEB9-8A8C-433C-7DE2-5E14A4AE74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C9BADD-742C-5D68-6A94-E8231081DD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8F3195-54A9-1DA1-9861-5A5ABBB1E0F8}"/>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5" name="Footer Placeholder 4">
            <a:extLst>
              <a:ext uri="{FF2B5EF4-FFF2-40B4-BE49-F238E27FC236}">
                <a16:creationId xmlns:a16="http://schemas.microsoft.com/office/drawing/2014/main" id="{29400BE1-A484-421F-D8D7-7A3FA0679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94CED8E-9045-23A8-143B-174FA56EDEE3}"/>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1394423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90D5B-3881-EB5A-EDC3-072D640B20E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2880F9D-F58F-7763-A71C-D62C89215F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968AA3-5557-D0B7-587D-F2161F473957}"/>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5" name="Footer Placeholder 4">
            <a:extLst>
              <a:ext uri="{FF2B5EF4-FFF2-40B4-BE49-F238E27FC236}">
                <a16:creationId xmlns:a16="http://schemas.microsoft.com/office/drawing/2014/main" id="{CF39AA12-3B46-51C0-2801-9C090CE466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36FB7A-3AF9-E152-CD8E-7C5B6C5E594C}"/>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982063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E7EA1-C74B-3154-CEF6-2763DFEC56E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4261C4-7CDA-76B3-91F5-93AA9CC5762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ACAB1D-8ED3-B6E7-1BF1-35634A0DD5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81E8C1-006B-9654-73FC-08BF23DA6FEE}"/>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6" name="Footer Placeholder 5">
            <a:extLst>
              <a:ext uri="{FF2B5EF4-FFF2-40B4-BE49-F238E27FC236}">
                <a16:creationId xmlns:a16="http://schemas.microsoft.com/office/drawing/2014/main" id="{24DF076A-AFB1-836D-1570-B42523237A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3FBE42-9B3E-FCF8-C385-B04CEAECA106}"/>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2348554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DA82D-D30C-9B35-DBDC-AAFFECF11B9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7E3BB1-1C05-67D4-DF85-C5937E929B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30F608-B3D2-0F85-67F1-DB2CD86C9C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423584-F97D-ACE4-6431-736FA85D82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38BFC3-73FF-F9D6-E4F6-62ABC7B6660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5730605-0E49-7438-7D02-8F440B64F2BC}"/>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8" name="Footer Placeholder 7">
            <a:extLst>
              <a:ext uri="{FF2B5EF4-FFF2-40B4-BE49-F238E27FC236}">
                <a16:creationId xmlns:a16="http://schemas.microsoft.com/office/drawing/2014/main" id="{3EACBC7A-CC42-311A-5DEE-2918E481C87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599BAB-2378-1718-66A1-78BA305BB24E}"/>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187354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109A-8885-34E0-00BE-235B89C5F7E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7A7299-8133-8651-F8AA-F64A6D3970B9}"/>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4" name="Footer Placeholder 3">
            <a:extLst>
              <a:ext uri="{FF2B5EF4-FFF2-40B4-BE49-F238E27FC236}">
                <a16:creationId xmlns:a16="http://schemas.microsoft.com/office/drawing/2014/main" id="{AF0B66F6-68C2-8923-84D2-D73C89D700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A04D63F-04AA-0B65-58C4-6A780252AC55}"/>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777276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6F56FF-723D-C8C7-D659-A650ED93808A}"/>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3" name="Footer Placeholder 2">
            <a:extLst>
              <a:ext uri="{FF2B5EF4-FFF2-40B4-BE49-F238E27FC236}">
                <a16:creationId xmlns:a16="http://schemas.microsoft.com/office/drawing/2014/main" id="{5E5CF9D4-6D4C-9FC6-5465-FDB007D6DB8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84FB93-4885-AC65-880C-CA88124CD1EC}"/>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2348339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6E3F0-2D62-C82E-C2A8-CFB341F847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F354CD3-C1D8-AE54-ED05-E2075A6A66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B5F72B-E343-86DD-057D-C76DE86D7C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ADCB89-6AB7-97BA-2CC3-50C3FB533A43}"/>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6" name="Footer Placeholder 5">
            <a:extLst>
              <a:ext uri="{FF2B5EF4-FFF2-40B4-BE49-F238E27FC236}">
                <a16:creationId xmlns:a16="http://schemas.microsoft.com/office/drawing/2014/main" id="{86045142-DEC9-54E0-72A7-0ED03EAEA4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CB392A-6427-D85A-B895-47794856A22E}"/>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1695273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A976A-F4D0-16B3-2134-C868E16EC9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A694E0A-0AE0-9D0E-A6C9-BD70DB78E5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6FC244-CD72-DE6A-0612-91D3E1CBF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1656F6-A67F-A3CB-5B8D-3833E838913F}"/>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6" name="Footer Placeholder 5">
            <a:extLst>
              <a:ext uri="{FF2B5EF4-FFF2-40B4-BE49-F238E27FC236}">
                <a16:creationId xmlns:a16="http://schemas.microsoft.com/office/drawing/2014/main" id="{D285D1E1-B3C7-85BC-E554-66F2781ADC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D03AA3-675A-64A4-63D4-ADDB3D9E157D}"/>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3595853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BEC05-02C0-643D-6278-B5852F8D08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089AD3A-F5B9-1CBF-D2A1-DB049A15B7F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DC06CD-3217-45C6-7538-744B0BAFC893}"/>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5" name="Footer Placeholder 4">
            <a:extLst>
              <a:ext uri="{FF2B5EF4-FFF2-40B4-BE49-F238E27FC236}">
                <a16:creationId xmlns:a16="http://schemas.microsoft.com/office/drawing/2014/main" id="{7F344ABA-22D7-D94E-4D76-A24629B52E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B5A0EB-9DA8-D2E1-15A4-E653B35F9A59}"/>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2966199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58E7AC-AF56-EB4A-7457-44D360CE2F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A144B00-E3FA-5798-BB03-0489FF46E4A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DC7411-D94E-AADE-FEF9-5F7334F63737}"/>
              </a:ext>
            </a:extLst>
          </p:cNvPr>
          <p:cNvSpPr>
            <a:spLocks noGrp="1"/>
          </p:cNvSpPr>
          <p:nvPr>
            <p:ph type="dt" sz="half" idx="10"/>
          </p:nvPr>
        </p:nvSpPr>
        <p:spPr/>
        <p:txBody>
          <a:bodyPr/>
          <a:lstStyle/>
          <a:p>
            <a:fld id="{AE7BD6CE-4DB7-D444-8297-1617B8BAEA4B}" type="datetimeFigureOut">
              <a:rPr lang="en-US" smtClean="0"/>
              <a:t>2/20/26</a:t>
            </a:fld>
            <a:endParaRPr lang="en-US"/>
          </a:p>
        </p:txBody>
      </p:sp>
      <p:sp>
        <p:nvSpPr>
          <p:cNvPr id="5" name="Footer Placeholder 4">
            <a:extLst>
              <a:ext uri="{FF2B5EF4-FFF2-40B4-BE49-F238E27FC236}">
                <a16:creationId xmlns:a16="http://schemas.microsoft.com/office/drawing/2014/main" id="{9BAE9DD5-BBDE-3522-6506-A75FFE38A4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5308D5-7B0B-223B-C099-6AED107FF4D4}"/>
              </a:ext>
            </a:extLst>
          </p:cNvPr>
          <p:cNvSpPr>
            <a:spLocks noGrp="1"/>
          </p:cNvSpPr>
          <p:nvPr>
            <p:ph type="sldNum" sz="quarter" idx="12"/>
          </p:nvPr>
        </p:nvSpPr>
        <p:spPr/>
        <p:txBody>
          <a:bodyPr/>
          <a:lstStyle/>
          <a:p>
            <a:fld id="{3575BAC2-713E-664C-BF68-344238DFA3F6}" type="slidenum">
              <a:rPr lang="en-US" smtClean="0"/>
              <a:t>‹#›</a:t>
            </a:fld>
            <a:endParaRPr lang="en-US"/>
          </a:p>
        </p:txBody>
      </p:sp>
    </p:spTree>
    <p:extLst>
      <p:ext uri="{BB962C8B-B14F-4D97-AF65-F5344CB8AC3E}">
        <p14:creationId xmlns:p14="http://schemas.microsoft.com/office/powerpoint/2010/main" val="195770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53C0F6"/>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338741-EC01-C7A8-1E75-B7DDD91F27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53BF00EC-FA55-A511-ED76-FDCA8E8269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0BFCD0A-EF9E-3090-A75B-6C1A988B9AC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7BD6CE-4DB7-D444-8297-1617B8BAEA4B}" type="datetimeFigureOut">
              <a:rPr lang="en-US" smtClean="0"/>
              <a:t>2/20/26</a:t>
            </a:fld>
            <a:endParaRPr lang="en-US"/>
          </a:p>
        </p:txBody>
      </p:sp>
      <p:sp>
        <p:nvSpPr>
          <p:cNvPr id="5" name="Footer Placeholder 4">
            <a:extLst>
              <a:ext uri="{FF2B5EF4-FFF2-40B4-BE49-F238E27FC236}">
                <a16:creationId xmlns:a16="http://schemas.microsoft.com/office/drawing/2014/main" id="{F52BC5E2-8A81-F747-C047-E0EFEDAB9D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1D41C4-33B0-EBD5-5A35-467FB922B9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75BAC2-713E-664C-BF68-344238DFA3F6}" type="slidenum">
              <a:rPr lang="en-US" smtClean="0"/>
              <a:t>‹#›</a:t>
            </a:fld>
            <a:endParaRPr lang="en-US"/>
          </a:p>
        </p:txBody>
      </p:sp>
    </p:spTree>
    <p:extLst>
      <p:ext uri="{BB962C8B-B14F-4D97-AF65-F5344CB8AC3E}">
        <p14:creationId xmlns:p14="http://schemas.microsoft.com/office/powerpoint/2010/main" val="8111284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docs.flutter.dev/ui/widgets" TargetMode="External"/><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fonts.google.com/" TargetMode="Externa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8" Type="http://schemas.openxmlformats.org/officeDocument/2006/relationships/hyperlink" Target="https://fonts.google.com/" TargetMode="External"/><Relationship Id="rId13" Type="http://schemas.openxmlformats.org/officeDocument/2006/relationships/hyperlink" Target="https://api.flutter.dev/flutter/material/Card-class.html" TargetMode="External"/><Relationship Id="rId3" Type="http://schemas.openxmlformats.org/officeDocument/2006/relationships/hyperlink" Target="https://docs.flutter.dev/ui/widgets" TargetMode="External"/><Relationship Id="rId7" Type="http://schemas.openxmlformats.org/officeDocument/2006/relationships/hyperlink" Target="https://medium.com/flutter-community/flutter-layout-cheat-sheet-5363348d037e" TargetMode="External"/><Relationship Id="rId12" Type="http://schemas.openxmlformats.org/officeDocument/2006/relationships/hyperlink" Target="https://www.materialpalette.com/" TargetMode="External"/><Relationship Id="rId2" Type="http://schemas.openxmlformats.org/officeDocument/2006/relationships/notesSlide" Target="../notesSlides/notesSlide1.xml"/><Relationship Id="rId16" Type="http://schemas.openxmlformats.org/officeDocument/2006/relationships/hyperlink" Target="https://api.flutter.dev/flutter/material/Divider-class.html" TargetMode="External"/><Relationship Id="rId1" Type="http://schemas.openxmlformats.org/officeDocument/2006/relationships/slideLayout" Target="../slideLayouts/slideLayout4.xml"/><Relationship Id="rId6" Type="http://schemas.openxmlformats.org/officeDocument/2006/relationships/hyperlink" Target="https://api.flutter.dev/flutter/widgets/Row-class.html" TargetMode="External"/><Relationship Id="rId11" Type="http://schemas.openxmlformats.org/officeDocument/2006/relationships/hyperlink" Target="https://m3.material.io/styles/icons/overview" TargetMode="External"/><Relationship Id="rId5" Type="http://schemas.openxmlformats.org/officeDocument/2006/relationships/hyperlink" Target="https://api.flutter.dev/flutter/widgets/Column-class.html" TargetMode="External"/><Relationship Id="rId15" Type="http://schemas.openxmlformats.org/officeDocument/2006/relationships/hyperlink" Target="https://api.flutter.dev/flutter/material/ListTile-class.html" TargetMode="External"/><Relationship Id="rId10" Type="http://schemas.openxmlformats.org/officeDocument/2006/relationships/hyperlink" Target="https://api.flutter.dev/flutter/material/Icons-class.html" TargetMode="External"/><Relationship Id="rId4" Type="http://schemas.openxmlformats.org/officeDocument/2006/relationships/hyperlink" Target="https://api.flutter.dev/flutter/widgets/Container-class.html" TargetMode="External"/><Relationship Id="rId9" Type="http://schemas.openxmlformats.org/officeDocument/2006/relationships/hyperlink" Target="https://docs.flutter.dev/cookbook/design/fonts" TargetMode="External"/><Relationship Id="rId14" Type="http://schemas.openxmlformats.org/officeDocument/2006/relationships/hyperlink" Target="https://api.flutter.dev/flutter/widgets/Padding-class.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EB91F-4E4A-7F4B-45E5-F33FD3964E74}"/>
              </a:ext>
            </a:extLst>
          </p:cNvPr>
          <p:cNvSpPr>
            <a:spLocks noGrp="1"/>
          </p:cNvSpPr>
          <p:nvPr>
            <p:ph type="ctrTitle"/>
          </p:nvPr>
        </p:nvSpPr>
        <p:spPr/>
        <p:txBody>
          <a:bodyPr>
            <a:normAutofit fontScale="90000"/>
          </a:bodyPr>
          <a:lstStyle/>
          <a:p>
            <a:r>
              <a:rPr lang="en-US" b="1" i="0" dirty="0" err="1">
                <a:effectLst/>
                <a:latin typeface="Metropolis"/>
              </a:rPr>
              <a:t>MiCard</a:t>
            </a:r>
            <a:r>
              <a:rPr lang="en-US" b="1" i="0" dirty="0">
                <a:effectLst/>
                <a:latin typeface="Metropolis"/>
              </a:rPr>
              <a:t> </a:t>
            </a:r>
            <a:br>
              <a:rPr lang="en-US" b="1" i="0" dirty="0">
                <a:effectLst/>
                <a:latin typeface="Metropolis"/>
              </a:rPr>
            </a:br>
            <a:r>
              <a:rPr lang="en-US" b="1" i="0" dirty="0">
                <a:effectLst/>
                <a:latin typeface="Metropolis"/>
              </a:rPr>
              <a:t> How to Build Beautiful UIs with Flutter Widgets</a:t>
            </a:r>
            <a:endParaRPr lang="en-US" dirty="0"/>
          </a:p>
        </p:txBody>
      </p:sp>
      <p:sp>
        <p:nvSpPr>
          <p:cNvPr id="3" name="Subtitle 2">
            <a:extLst>
              <a:ext uri="{FF2B5EF4-FFF2-40B4-BE49-F238E27FC236}">
                <a16:creationId xmlns:a16="http://schemas.microsoft.com/office/drawing/2014/main" id="{CD1C9BE6-888C-9E9E-E3B9-C9A63E6DC1C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811066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EDA52E2-235F-7D13-4199-14F16A8D575C}"/>
              </a:ext>
            </a:extLst>
          </p:cNvPr>
          <p:cNvPicPr>
            <a:picLocks noChangeAspect="1"/>
          </p:cNvPicPr>
          <p:nvPr/>
        </p:nvPicPr>
        <p:blipFill>
          <a:blip r:embed="rId2"/>
          <a:srcRect/>
          <a:stretch/>
        </p:blipFill>
        <p:spPr>
          <a:xfrm>
            <a:off x="7267211" y="1289539"/>
            <a:ext cx="4690696" cy="4690696"/>
          </a:xfrm>
          <a:prstGeom prst="rect">
            <a:avLst/>
          </a:prstGeom>
        </p:spPr>
      </p:pic>
      <p:sp>
        <p:nvSpPr>
          <p:cNvPr id="2" name="Title 1">
            <a:extLst>
              <a:ext uri="{FF2B5EF4-FFF2-40B4-BE49-F238E27FC236}">
                <a16:creationId xmlns:a16="http://schemas.microsoft.com/office/drawing/2014/main" id="{F8DFE4BE-4AB0-EF42-1364-AA3BF37676E1}"/>
              </a:ext>
            </a:extLst>
          </p:cNvPr>
          <p:cNvSpPr>
            <a:spLocks noGrp="1"/>
          </p:cNvSpPr>
          <p:nvPr>
            <p:ph type="title"/>
          </p:nvPr>
        </p:nvSpPr>
        <p:spPr/>
        <p:txBody>
          <a:bodyPr/>
          <a:lstStyle/>
          <a:p>
            <a:r>
              <a:rPr lang="en-US" dirty="0"/>
              <a:t>DESIGN YOUR APP WITH FLUTTER LAYOUT WIDGETS</a:t>
            </a:r>
          </a:p>
        </p:txBody>
      </p:sp>
      <p:sp>
        <p:nvSpPr>
          <p:cNvPr id="3" name="Content Placeholder 2">
            <a:extLst>
              <a:ext uri="{FF2B5EF4-FFF2-40B4-BE49-F238E27FC236}">
                <a16:creationId xmlns:a16="http://schemas.microsoft.com/office/drawing/2014/main" id="{55928090-CEC2-3099-AA72-062BFBB65B4A}"/>
              </a:ext>
            </a:extLst>
          </p:cNvPr>
          <p:cNvSpPr>
            <a:spLocks noGrp="1"/>
          </p:cNvSpPr>
          <p:nvPr>
            <p:ph idx="1"/>
          </p:nvPr>
        </p:nvSpPr>
        <p:spPr>
          <a:xfrm>
            <a:off x="838201" y="1790456"/>
            <a:ext cx="6312876" cy="4351338"/>
          </a:xfrm>
        </p:spPr>
        <p:txBody>
          <a:bodyPr/>
          <a:lstStyle/>
          <a:p>
            <a:r>
              <a:rPr lang="en-US" dirty="0"/>
              <a:t>We build business card app, that has all of your contact details</a:t>
            </a:r>
          </a:p>
          <a:p>
            <a:r>
              <a:rPr lang="en-US" dirty="0"/>
              <a:t>Very simple app but we will learn more about the layout, such as User Interface Elements, onscreen, using various Flutter Layouts widgets and so on.</a:t>
            </a:r>
          </a:p>
          <a:p>
            <a:endParaRPr lang="en-US" dirty="0"/>
          </a:p>
        </p:txBody>
      </p:sp>
    </p:spTree>
    <p:extLst>
      <p:ext uri="{BB962C8B-B14F-4D97-AF65-F5344CB8AC3E}">
        <p14:creationId xmlns:p14="http://schemas.microsoft.com/office/powerpoint/2010/main" val="2317787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BF03-E156-BEEA-4463-099DB3F43FEE}"/>
              </a:ext>
            </a:extLst>
          </p:cNvPr>
          <p:cNvSpPr>
            <a:spLocks noGrp="1"/>
          </p:cNvSpPr>
          <p:nvPr>
            <p:ph type="title"/>
          </p:nvPr>
        </p:nvSpPr>
        <p:spPr/>
        <p:txBody>
          <a:bodyPr/>
          <a:lstStyle/>
          <a:p>
            <a:r>
              <a:rPr lang="en-US" dirty="0"/>
              <a:t>Topics in this Lecture</a:t>
            </a:r>
          </a:p>
        </p:txBody>
      </p:sp>
      <p:sp>
        <p:nvSpPr>
          <p:cNvPr id="3" name="Content Placeholder 2">
            <a:extLst>
              <a:ext uri="{FF2B5EF4-FFF2-40B4-BE49-F238E27FC236}">
                <a16:creationId xmlns:a16="http://schemas.microsoft.com/office/drawing/2014/main" id="{26D65359-5D2D-F88B-3D20-E474DFAC1DA3}"/>
              </a:ext>
            </a:extLst>
          </p:cNvPr>
          <p:cNvSpPr>
            <a:spLocks noGrp="1"/>
          </p:cNvSpPr>
          <p:nvPr>
            <p:ph idx="1"/>
          </p:nvPr>
        </p:nvSpPr>
        <p:spPr/>
        <p:txBody>
          <a:bodyPr>
            <a:normAutofit/>
          </a:bodyPr>
          <a:lstStyle/>
          <a:p>
            <a:pPr marL="514350" indent="-514350">
              <a:buFont typeface="+mj-lt"/>
              <a:buAutoNum type="arabicPeriod"/>
            </a:pPr>
            <a:r>
              <a:rPr lang="en-US" b="1" dirty="0">
                <a:effectLst/>
                <a:latin typeface="inherit"/>
              </a:rPr>
              <a:t>  Hot Reload &amp; Hot Restart - Flutter Power Tools</a:t>
            </a:r>
          </a:p>
          <a:p>
            <a:pPr marL="514350" indent="-514350">
              <a:buFont typeface="+mj-lt"/>
              <a:buAutoNum type="arabicPeriod"/>
            </a:pPr>
            <a:r>
              <a:rPr lang="en-US" b="1" dirty="0">
                <a:effectLst/>
                <a:latin typeface="inherit"/>
              </a:rPr>
              <a:t>  How to Use Container Widgets</a:t>
            </a:r>
          </a:p>
          <a:p>
            <a:pPr marL="514350" indent="-514350">
              <a:buFont typeface="+mj-lt"/>
              <a:buAutoNum type="arabicPeriod"/>
            </a:pPr>
            <a:r>
              <a:rPr lang="en-US" b="1" dirty="0">
                <a:effectLst/>
                <a:latin typeface="inherit"/>
              </a:rPr>
              <a:t>  How to Use Column and Row Widgets for Layout</a:t>
            </a:r>
          </a:p>
          <a:p>
            <a:pPr marL="514350" indent="-514350">
              <a:buFont typeface="+mj-lt"/>
              <a:buAutoNum type="arabicPeriod"/>
            </a:pPr>
            <a:r>
              <a:rPr lang="en-US" b="1" dirty="0">
                <a:effectLst/>
                <a:latin typeface="inherit"/>
              </a:rPr>
              <a:t>  Flutter Layouts Challenge – Class Task/Activity</a:t>
            </a:r>
          </a:p>
          <a:p>
            <a:pPr marL="514350" indent="-514350">
              <a:buFont typeface="+mj-lt"/>
              <a:buAutoNum type="arabicPeriod"/>
            </a:pPr>
            <a:r>
              <a:rPr lang="en-US" b="1" dirty="0">
                <a:effectLst/>
                <a:latin typeface="inherit"/>
              </a:rPr>
              <a:t>  Tapping into Widget Properties</a:t>
            </a:r>
            <a:endParaRPr lang="en-US" b="1" dirty="0">
              <a:latin typeface="inherit"/>
            </a:endParaRPr>
          </a:p>
          <a:p>
            <a:pPr marL="514350" indent="-514350">
              <a:buFont typeface="+mj-lt"/>
              <a:buAutoNum type="arabicPeriod"/>
            </a:pPr>
            <a:r>
              <a:rPr lang="en-US" b="1" dirty="0">
                <a:effectLst/>
                <a:latin typeface="inherit"/>
              </a:rPr>
              <a:t>  Incorporating Custom Fonts in Your Flutter App</a:t>
            </a:r>
          </a:p>
          <a:p>
            <a:pPr marL="514350" indent="-514350">
              <a:buFont typeface="+mj-lt"/>
              <a:buAutoNum type="arabicPeriod"/>
            </a:pPr>
            <a:r>
              <a:rPr lang="en-US" b="1" dirty="0">
                <a:effectLst/>
                <a:latin typeface="inherit"/>
              </a:rPr>
              <a:t>  Adding Material Icons with the Icon Widget</a:t>
            </a:r>
          </a:p>
          <a:p>
            <a:pPr marL="514350" indent="-514350">
              <a:buFont typeface="+mj-lt"/>
              <a:buAutoNum type="arabicPeriod"/>
            </a:pPr>
            <a:r>
              <a:rPr lang="en-US" b="1" dirty="0">
                <a:effectLst/>
                <a:latin typeface="inherit"/>
              </a:rPr>
              <a:t>  Flutter Card &amp; </a:t>
            </a:r>
            <a:r>
              <a:rPr lang="en-US" b="1" dirty="0" err="1">
                <a:effectLst/>
                <a:latin typeface="inherit"/>
              </a:rPr>
              <a:t>ListTile</a:t>
            </a:r>
            <a:r>
              <a:rPr lang="en-US" b="1" dirty="0">
                <a:effectLst/>
                <a:latin typeface="inherit"/>
              </a:rPr>
              <a:t> Widget</a:t>
            </a:r>
          </a:p>
          <a:p>
            <a:pPr algn="l"/>
            <a:endParaRPr lang="en-US" b="0" i="0" dirty="0">
              <a:solidFill>
                <a:srgbClr val="212338"/>
              </a:solidFill>
              <a:effectLst/>
              <a:latin typeface="Metropolis"/>
            </a:endParaRPr>
          </a:p>
        </p:txBody>
      </p:sp>
    </p:spTree>
    <p:extLst>
      <p:ext uri="{BB962C8B-B14F-4D97-AF65-F5344CB8AC3E}">
        <p14:creationId xmlns:p14="http://schemas.microsoft.com/office/powerpoint/2010/main" val="2859792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9F7D-5FD1-8A48-C138-863D8AE0039A}"/>
              </a:ext>
            </a:extLst>
          </p:cNvPr>
          <p:cNvSpPr>
            <a:spLocks noGrp="1"/>
          </p:cNvSpPr>
          <p:nvPr>
            <p:ph type="title"/>
          </p:nvPr>
        </p:nvSpPr>
        <p:spPr/>
        <p:txBody>
          <a:bodyPr>
            <a:normAutofit fontScale="90000"/>
          </a:bodyPr>
          <a:lstStyle/>
          <a:p>
            <a:pPr marL="742950" indent="-742950">
              <a:buFont typeface="+mj-lt"/>
              <a:buAutoNum type="arabicPeriod"/>
            </a:pPr>
            <a:r>
              <a:rPr lang="en-US" b="1" dirty="0">
                <a:effectLst/>
                <a:latin typeface="inherit"/>
              </a:rPr>
              <a:t>  Hot Reload &amp; Hot Restart - Flutter Power Tools</a:t>
            </a:r>
            <a:br>
              <a:rPr lang="en-US" b="1" dirty="0">
                <a:effectLst/>
                <a:latin typeface="inherit"/>
              </a:rPr>
            </a:br>
            <a:endParaRPr lang="en-US" dirty="0"/>
          </a:p>
        </p:txBody>
      </p:sp>
      <p:sp>
        <p:nvSpPr>
          <p:cNvPr id="3" name="Content Placeholder 2">
            <a:extLst>
              <a:ext uri="{FF2B5EF4-FFF2-40B4-BE49-F238E27FC236}">
                <a16:creationId xmlns:a16="http://schemas.microsoft.com/office/drawing/2014/main" id="{DF122E04-C2F6-B385-5325-C99E62B67B9A}"/>
              </a:ext>
            </a:extLst>
          </p:cNvPr>
          <p:cNvSpPr>
            <a:spLocks noGrp="1"/>
          </p:cNvSpPr>
          <p:nvPr>
            <p:ph idx="1"/>
          </p:nvPr>
        </p:nvSpPr>
        <p:spPr/>
        <p:txBody>
          <a:bodyPr/>
          <a:lstStyle/>
          <a:p>
            <a:r>
              <a:rPr lang="en-US" dirty="0"/>
              <a:t>Allow you almost instantaneously see your changes in the simulator or your device that you’re testing it on.</a:t>
            </a:r>
          </a:p>
          <a:p>
            <a:r>
              <a:rPr lang="en-US" dirty="0"/>
              <a:t>E.g. if you change the color of the Scaffold -&gt; </a:t>
            </a:r>
            <a:r>
              <a:rPr lang="en-US" dirty="0" err="1"/>
              <a:t>backgroundColor</a:t>
            </a:r>
            <a:r>
              <a:rPr lang="en-US" dirty="0"/>
              <a:t>: </a:t>
            </a:r>
            <a:r>
              <a:rPr lang="en-US" dirty="0" err="1"/>
              <a:t>Colors.white</a:t>
            </a:r>
            <a:r>
              <a:rPr lang="en-US" dirty="0"/>
              <a:t>  into </a:t>
            </a:r>
            <a:r>
              <a:rPr lang="en-US" dirty="0" err="1"/>
              <a:t>Colors.red</a:t>
            </a:r>
            <a:r>
              <a:rPr lang="en-US" dirty="0"/>
              <a:t>, it should change instantly.</a:t>
            </a:r>
          </a:p>
          <a:p>
            <a:r>
              <a:rPr lang="en-US" dirty="0"/>
              <a:t>For hot-reload to work we have to changed inside a Flutter stateless or stateful widgets.</a:t>
            </a:r>
          </a:p>
          <a:p>
            <a:r>
              <a:rPr lang="en-US" dirty="0"/>
              <a:t>To create stateless widget use shortcut : </a:t>
            </a:r>
            <a:r>
              <a:rPr lang="en-US" dirty="0" err="1"/>
              <a:t>stless</a:t>
            </a:r>
            <a:r>
              <a:rPr lang="en-US" dirty="0"/>
              <a:t> + enter, flutter will create boilerplate code for building a </a:t>
            </a:r>
            <a:r>
              <a:rPr lang="en-US" dirty="0" err="1"/>
              <a:t>statless</a:t>
            </a:r>
            <a:r>
              <a:rPr lang="en-US" dirty="0"/>
              <a:t> widget.</a:t>
            </a:r>
          </a:p>
          <a:p>
            <a:r>
              <a:rPr lang="en-US" dirty="0"/>
              <a:t>Hot reload meant to happen so fast and it really is like a reload</a:t>
            </a:r>
          </a:p>
          <a:p>
            <a:endParaRPr lang="en-US" dirty="0"/>
          </a:p>
        </p:txBody>
      </p:sp>
    </p:spTree>
    <p:extLst>
      <p:ext uri="{BB962C8B-B14F-4D97-AF65-F5344CB8AC3E}">
        <p14:creationId xmlns:p14="http://schemas.microsoft.com/office/powerpoint/2010/main" val="1912953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A775D-C70F-018F-CDA6-5DBC3D771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22E46F-1A6A-0567-EB89-563FE1CE414E}"/>
              </a:ext>
            </a:extLst>
          </p:cNvPr>
          <p:cNvSpPr>
            <a:spLocks noGrp="1"/>
          </p:cNvSpPr>
          <p:nvPr>
            <p:ph type="title"/>
          </p:nvPr>
        </p:nvSpPr>
        <p:spPr/>
        <p:txBody>
          <a:bodyPr>
            <a:normAutofit fontScale="90000"/>
          </a:bodyPr>
          <a:lstStyle/>
          <a:p>
            <a:r>
              <a:rPr lang="en-US" b="1" dirty="0">
                <a:effectLst/>
                <a:latin typeface="inherit"/>
              </a:rPr>
              <a:t>  Hot Reload &amp; Hot Restart - Flutter Power Tools</a:t>
            </a:r>
            <a:br>
              <a:rPr lang="en-US" b="1" dirty="0">
                <a:effectLst/>
                <a:latin typeface="inherit"/>
              </a:rPr>
            </a:br>
            <a:endParaRPr lang="en-US" dirty="0"/>
          </a:p>
        </p:txBody>
      </p:sp>
      <p:sp>
        <p:nvSpPr>
          <p:cNvPr id="4" name="Content Placeholder 3">
            <a:extLst>
              <a:ext uri="{FF2B5EF4-FFF2-40B4-BE49-F238E27FC236}">
                <a16:creationId xmlns:a16="http://schemas.microsoft.com/office/drawing/2014/main" id="{BA1BC895-E9A3-836E-E506-0DE37E478BEF}"/>
              </a:ext>
            </a:extLst>
          </p:cNvPr>
          <p:cNvSpPr>
            <a:spLocks noGrp="1"/>
          </p:cNvSpPr>
          <p:nvPr>
            <p:ph sz="half" idx="1"/>
          </p:nvPr>
        </p:nvSpPr>
        <p:spPr>
          <a:xfrm>
            <a:off x="838200" y="1166648"/>
            <a:ext cx="5181600" cy="5570483"/>
          </a:xfrm>
        </p:spPr>
        <p:txBody>
          <a:bodyPr>
            <a:normAutofit fontScale="77500" lnSpcReduction="20000"/>
          </a:bodyPr>
          <a:lstStyle/>
          <a:p>
            <a:r>
              <a:rPr lang="en-US" dirty="0"/>
              <a:t>Hot reload massively shorten the time that’s taken to create that cycle, for each of those cycles.</a:t>
            </a:r>
          </a:p>
          <a:p>
            <a:r>
              <a:rPr lang="en-US" dirty="0"/>
              <a:t>Hot reload not lose data if you make changes in the UI</a:t>
            </a:r>
          </a:p>
          <a:p>
            <a:r>
              <a:rPr lang="en-US" dirty="0"/>
              <a:t>On the other hand Hot-Restart, restart the app where it lose data/reset data too along the changes done in the code.</a:t>
            </a:r>
          </a:p>
          <a:p>
            <a:r>
              <a:rPr lang="en-US" dirty="0"/>
              <a:t>Hot-Restart, still helpful instead stop the app and then re-run which takes Gradle setting and many more settings, the Hot-Restart instantly re-start the app, skipping the Gradle setting and many more settings part.</a:t>
            </a:r>
          </a:p>
          <a:p>
            <a:r>
              <a:rPr lang="en-US" dirty="0"/>
              <a:t>Very helpful in the large scale of projects, and for that screen size doesn’t matter, it works same as its working on mobile screen size. </a:t>
            </a:r>
          </a:p>
        </p:txBody>
      </p:sp>
      <p:pic>
        <p:nvPicPr>
          <p:cNvPr id="7" name="Content Placeholder 6" descr="A diagram of a code&#10;&#10;Description automatically generated">
            <a:extLst>
              <a:ext uri="{FF2B5EF4-FFF2-40B4-BE49-F238E27FC236}">
                <a16:creationId xmlns:a16="http://schemas.microsoft.com/office/drawing/2014/main" id="{64220541-642A-6CC3-C7C7-2472AF3E54EB}"/>
              </a:ext>
            </a:extLst>
          </p:cNvPr>
          <p:cNvPicPr>
            <a:picLocks noGrp="1" noChangeAspect="1"/>
          </p:cNvPicPr>
          <p:nvPr>
            <p:ph sz="half" idx="2"/>
          </p:nvPr>
        </p:nvPicPr>
        <p:blipFill>
          <a:blip r:embed="rId2"/>
          <a:stretch>
            <a:fillRect/>
          </a:stretch>
        </p:blipFill>
        <p:spPr>
          <a:xfrm>
            <a:off x="6172200" y="1825625"/>
            <a:ext cx="5181600" cy="3429547"/>
          </a:xfrm>
        </p:spPr>
      </p:pic>
    </p:spTree>
    <p:extLst>
      <p:ext uri="{BB962C8B-B14F-4D97-AF65-F5344CB8AC3E}">
        <p14:creationId xmlns:p14="http://schemas.microsoft.com/office/powerpoint/2010/main" val="30737607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51EBD-1BA7-BC85-2EF1-8A168671ACED}"/>
            </a:ext>
          </a:extLst>
        </p:cNvPr>
        <p:cNvGrpSpPr/>
        <p:nvPr/>
      </p:nvGrpSpPr>
      <p:grpSpPr>
        <a:xfrm>
          <a:off x="0" y="0"/>
          <a:ext cx="0" cy="0"/>
          <a:chOff x="0" y="0"/>
          <a:chExt cx="0" cy="0"/>
        </a:xfrm>
      </p:grpSpPr>
      <p:pic>
        <p:nvPicPr>
          <p:cNvPr id="5" name="Picture 4" descr="A blue box with arrows&#10;&#10;Description automatically generated">
            <a:extLst>
              <a:ext uri="{FF2B5EF4-FFF2-40B4-BE49-F238E27FC236}">
                <a16:creationId xmlns:a16="http://schemas.microsoft.com/office/drawing/2014/main" id="{18949C6B-CE3C-1832-AFA2-A943912BC8D6}"/>
              </a:ext>
            </a:extLst>
          </p:cNvPr>
          <p:cNvPicPr>
            <a:picLocks noChangeAspect="1"/>
          </p:cNvPicPr>
          <p:nvPr/>
        </p:nvPicPr>
        <p:blipFill>
          <a:blip r:embed="rId2"/>
          <a:stretch>
            <a:fillRect/>
          </a:stretch>
        </p:blipFill>
        <p:spPr>
          <a:xfrm>
            <a:off x="8519313" y="111165"/>
            <a:ext cx="3442316" cy="3612055"/>
          </a:xfrm>
          <a:prstGeom prst="rect">
            <a:avLst/>
          </a:prstGeom>
        </p:spPr>
      </p:pic>
      <p:sp>
        <p:nvSpPr>
          <p:cNvPr id="2" name="Title 1">
            <a:extLst>
              <a:ext uri="{FF2B5EF4-FFF2-40B4-BE49-F238E27FC236}">
                <a16:creationId xmlns:a16="http://schemas.microsoft.com/office/drawing/2014/main" id="{136F4D16-6512-F006-D68F-F5B8A0DC40BC}"/>
              </a:ext>
            </a:extLst>
          </p:cNvPr>
          <p:cNvSpPr>
            <a:spLocks noGrp="1"/>
          </p:cNvSpPr>
          <p:nvPr>
            <p:ph type="title"/>
          </p:nvPr>
        </p:nvSpPr>
        <p:spPr/>
        <p:txBody>
          <a:bodyPr>
            <a:normAutofit/>
          </a:bodyPr>
          <a:lstStyle/>
          <a:p>
            <a:pPr marL="742950" indent="-742950">
              <a:buFont typeface="+mj-lt"/>
              <a:buAutoNum type="arabicPeriod" startAt="2"/>
            </a:pPr>
            <a:r>
              <a:rPr lang="en-US" b="1" dirty="0">
                <a:effectLst/>
                <a:latin typeface="inherit"/>
              </a:rPr>
              <a:t>  How to Use Container Widgets</a:t>
            </a:r>
          </a:p>
        </p:txBody>
      </p:sp>
      <p:sp>
        <p:nvSpPr>
          <p:cNvPr id="3" name="Content Placeholder 2">
            <a:extLst>
              <a:ext uri="{FF2B5EF4-FFF2-40B4-BE49-F238E27FC236}">
                <a16:creationId xmlns:a16="http://schemas.microsoft.com/office/drawing/2014/main" id="{24723F19-979E-0172-B63B-F8BFA8772816}"/>
              </a:ext>
            </a:extLst>
          </p:cNvPr>
          <p:cNvSpPr>
            <a:spLocks noGrp="1"/>
          </p:cNvSpPr>
          <p:nvPr>
            <p:ph idx="1"/>
          </p:nvPr>
        </p:nvSpPr>
        <p:spPr>
          <a:xfrm>
            <a:off x="838200" y="1825625"/>
            <a:ext cx="7832834" cy="4351338"/>
          </a:xfrm>
        </p:spPr>
        <p:txBody>
          <a:bodyPr/>
          <a:lstStyle/>
          <a:p>
            <a:r>
              <a:rPr lang="en-US" dirty="0"/>
              <a:t>One of the fundamental widgets to be used all the time, to lay out our apps, that a container widget.</a:t>
            </a:r>
          </a:p>
          <a:p>
            <a:r>
              <a:rPr lang="en-US" dirty="0"/>
              <a:t>Container widget inspired by the web designing; in which we use DIV, its essentially just layout box, we can position it and move it around the screen, can give child to display such as image, or text.</a:t>
            </a:r>
          </a:p>
          <a:p>
            <a:pPr marL="0" indent="0">
              <a:buNone/>
            </a:pPr>
            <a:r>
              <a:rPr lang="en-US" dirty="0"/>
              <a:t>Pro-Tip: always consider the Flutter Documentation: </a:t>
            </a:r>
            <a:r>
              <a:rPr lang="en-US" b="0" i="0" u="sng" dirty="0">
                <a:effectLst/>
                <a:latin typeface="-apple-system"/>
                <a:hlinkClick r:id="rId3">
                  <a:extLst>
                    <a:ext uri="{A12FA001-AC4F-418D-AE19-62706E023703}">
                      <ahyp:hlinkClr xmlns:ahyp="http://schemas.microsoft.com/office/drawing/2018/hyperlinkcolor" val="tx"/>
                    </a:ext>
                  </a:extLst>
                </a:hlinkClick>
              </a:rPr>
              <a:t>Widgets Catalogue</a:t>
            </a:r>
            <a:endParaRPr lang="en-US" b="0" i="0" dirty="0">
              <a:effectLst/>
              <a:latin typeface="-apple-system"/>
            </a:endParaRPr>
          </a:p>
          <a:p>
            <a:pPr marL="0" indent="0">
              <a:buNone/>
            </a:pPr>
            <a:endParaRPr lang="en-US" dirty="0"/>
          </a:p>
        </p:txBody>
      </p:sp>
      <p:pic>
        <p:nvPicPr>
          <p:cNvPr id="7" name="Picture 6" descr="A screenshot of a computer&#10;&#10;Description automatically generated">
            <a:extLst>
              <a:ext uri="{FF2B5EF4-FFF2-40B4-BE49-F238E27FC236}">
                <a16:creationId xmlns:a16="http://schemas.microsoft.com/office/drawing/2014/main" id="{E6FD47A3-79E1-CC14-15B3-052B0CFE0A36}"/>
              </a:ext>
            </a:extLst>
          </p:cNvPr>
          <p:cNvPicPr>
            <a:picLocks noChangeAspect="1"/>
          </p:cNvPicPr>
          <p:nvPr/>
        </p:nvPicPr>
        <p:blipFill>
          <a:blip r:embed="rId4"/>
          <a:stretch>
            <a:fillRect/>
          </a:stretch>
        </p:blipFill>
        <p:spPr>
          <a:xfrm>
            <a:off x="8359748" y="3552092"/>
            <a:ext cx="3761445" cy="3305908"/>
          </a:xfrm>
          <a:prstGeom prst="rect">
            <a:avLst/>
          </a:prstGeom>
        </p:spPr>
      </p:pic>
    </p:spTree>
    <p:extLst>
      <p:ext uri="{BB962C8B-B14F-4D97-AF65-F5344CB8AC3E}">
        <p14:creationId xmlns:p14="http://schemas.microsoft.com/office/powerpoint/2010/main" val="3881314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3312E-121C-8C83-967B-91801CB66914}"/>
              </a:ext>
            </a:extLst>
          </p:cNvPr>
          <p:cNvSpPr>
            <a:spLocks noGrp="1"/>
          </p:cNvSpPr>
          <p:nvPr>
            <p:ph type="title"/>
          </p:nvPr>
        </p:nvSpPr>
        <p:spPr/>
        <p:txBody>
          <a:bodyPr/>
          <a:lstStyle/>
          <a:p>
            <a:r>
              <a:rPr lang="en-US" b="1" dirty="0">
                <a:effectLst/>
                <a:latin typeface="inherit"/>
              </a:rPr>
              <a:t>  How to Use Container Widgets</a:t>
            </a:r>
            <a:endParaRPr lang="en-US" dirty="0"/>
          </a:p>
        </p:txBody>
      </p:sp>
      <p:sp>
        <p:nvSpPr>
          <p:cNvPr id="3" name="Content Placeholder 2">
            <a:extLst>
              <a:ext uri="{FF2B5EF4-FFF2-40B4-BE49-F238E27FC236}">
                <a16:creationId xmlns:a16="http://schemas.microsoft.com/office/drawing/2014/main" id="{906FDD38-FDAD-4F1C-76DF-921F444AE3D8}"/>
              </a:ext>
            </a:extLst>
          </p:cNvPr>
          <p:cNvSpPr>
            <a:spLocks noGrp="1"/>
          </p:cNvSpPr>
          <p:nvPr>
            <p:ph idx="1"/>
          </p:nvPr>
        </p:nvSpPr>
        <p:spPr>
          <a:xfrm>
            <a:off x="838200" y="1355834"/>
            <a:ext cx="10515600" cy="4821129"/>
          </a:xfrm>
        </p:spPr>
        <p:txBody>
          <a:bodyPr>
            <a:normAutofit fontScale="85000" lnSpcReduction="10000"/>
          </a:bodyPr>
          <a:lstStyle/>
          <a:p>
            <a:r>
              <a:rPr lang="en-US" dirty="0"/>
              <a:t>Container with no children try to be as big as possible</a:t>
            </a:r>
          </a:p>
          <a:p>
            <a:r>
              <a:rPr lang="en-US" dirty="0"/>
              <a:t>If child exists container shrinks to the size of the child widget</a:t>
            </a:r>
          </a:p>
          <a:p>
            <a:r>
              <a:rPr lang="en-US" dirty="0"/>
              <a:t>If you notice text widget hidden away a bit by bezel of </a:t>
            </a:r>
            <a:r>
              <a:rPr lang="en-US" dirty="0" err="1"/>
              <a:t>iphone</a:t>
            </a:r>
            <a:r>
              <a:rPr lang="en-US" dirty="0"/>
              <a:t> or android phone screen, to save the content from all of the borders such as top bar, signal bar, notch?</a:t>
            </a:r>
          </a:p>
          <a:p>
            <a:r>
              <a:rPr lang="en-US" dirty="0"/>
              <a:t>For that Flutter comes with another widget i.e. </a:t>
            </a:r>
            <a:r>
              <a:rPr lang="en-US" dirty="0" err="1"/>
              <a:t>SafeArea</a:t>
            </a:r>
            <a:r>
              <a:rPr lang="en-US" dirty="0"/>
              <a:t>.</a:t>
            </a:r>
          </a:p>
          <a:p>
            <a:r>
              <a:rPr lang="en-US" dirty="0"/>
              <a:t>Anything in the inside the </a:t>
            </a:r>
            <a:r>
              <a:rPr lang="en-US" dirty="0" err="1"/>
              <a:t>SafeArea</a:t>
            </a:r>
            <a:r>
              <a:rPr lang="en-US" dirty="0"/>
              <a:t> will be inside the parts which don’t have notch or top-bar, for that use </a:t>
            </a:r>
            <a:r>
              <a:rPr lang="en-US" dirty="0" err="1"/>
              <a:t>shortcurt</a:t>
            </a:r>
            <a:r>
              <a:rPr lang="en-US" dirty="0"/>
              <a:t> Option / ALT and hit Enter</a:t>
            </a:r>
          </a:p>
          <a:p>
            <a:r>
              <a:rPr lang="en-US" dirty="0"/>
              <a:t>We can also change height/width of the container</a:t>
            </a:r>
          </a:p>
          <a:p>
            <a:r>
              <a:rPr lang="en-US" dirty="0"/>
              <a:t>We can also offset the container from the edges of screen for that we use margin attribute with </a:t>
            </a:r>
            <a:r>
              <a:rPr lang="en-US" dirty="0" err="1"/>
              <a:t>EdgeInsets.all</a:t>
            </a:r>
            <a:r>
              <a:rPr lang="en-US" dirty="0"/>
              <a:t> for all sides and </a:t>
            </a:r>
            <a:r>
              <a:rPr lang="en-US" dirty="0" err="1"/>
              <a:t>EdgeInsets.symmetric</a:t>
            </a:r>
            <a:r>
              <a:rPr lang="en-US" dirty="0"/>
              <a:t> such as vertical or horizontal or both.</a:t>
            </a:r>
          </a:p>
          <a:p>
            <a:r>
              <a:rPr lang="en-US" dirty="0"/>
              <a:t>We can define values for specific sides with the option </a:t>
            </a:r>
            <a:r>
              <a:rPr lang="en-US" dirty="0" err="1"/>
              <a:t>EdgeInsets.fromLTRB</a:t>
            </a:r>
            <a:endParaRPr lang="en-US" dirty="0"/>
          </a:p>
          <a:p>
            <a:endParaRPr lang="en-US" dirty="0"/>
          </a:p>
        </p:txBody>
      </p:sp>
    </p:spTree>
    <p:extLst>
      <p:ext uri="{BB962C8B-B14F-4D97-AF65-F5344CB8AC3E}">
        <p14:creationId xmlns:p14="http://schemas.microsoft.com/office/powerpoint/2010/main" val="1481582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FB46B-45E0-0E9D-B44C-FC331C46ED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1E6CB-927B-2E51-F87A-1587F007AD25}"/>
              </a:ext>
            </a:extLst>
          </p:cNvPr>
          <p:cNvSpPr>
            <a:spLocks noGrp="1"/>
          </p:cNvSpPr>
          <p:nvPr>
            <p:ph type="title"/>
          </p:nvPr>
        </p:nvSpPr>
        <p:spPr/>
        <p:txBody>
          <a:bodyPr/>
          <a:lstStyle/>
          <a:p>
            <a:r>
              <a:rPr lang="en-US" b="1" dirty="0">
                <a:effectLst/>
                <a:latin typeface="inherit"/>
              </a:rPr>
              <a:t>  How to Use Container Widgets</a:t>
            </a:r>
            <a:endParaRPr lang="en-US" dirty="0"/>
          </a:p>
        </p:txBody>
      </p:sp>
      <p:sp>
        <p:nvSpPr>
          <p:cNvPr id="3" name="Content Placeholder 2">
            <a:extLst>
              <a:ext uri="{FF2B5EF4-FFF2-40B4-BE49-F238E27FC236}">
                <a16:creationId xmlns:a16="http://schemas.microsoft.com/office/drawing/2014/main" id="{93522ACD-F367-E3B0-5BC1-79D74C5CD60D}"/>
              </a:ext>
            </a:extLst>
          </p:cNvPr>
          <p:cNvSpPr>
            <a:spLocks noGrp="1"/>
          </p:cNvSpPr>
          <p:nvPr>
            <p:ph idx="1"/>
          </p:nvPr>
        </p:nvSpPr>
        <p:spPr>
          <a:xfrm>
            <a:off x="838200" y="1355834"/>
            <a:ext cx="10515600" cy="4821129"/>
          </a:xfrm>
        </p:spPr>
        <p:txBody>
          <a:bodyPr>
            <a:normAutofit/>
          </a:bodyPr>
          <a:lstStyle/>
          <a:p>
            <a:r>
              <a:rPr lang="en-US" dirty="0"/>
              <a:t>Now we want child of the container away from the container; for that we use padding  attribute ( similar as we do in web-designing) and for the value we use </a:t>
            </a:r>
            <a:r>
              <a:rPr lang="en-US" dirty="0" err="1"/>
              <a:t>EdgeInsets</a:t>
            </a:r>
            <a:endParaRPr lang="en-US" dirty="0"/>
          </a:p>
          <a:p>
            <a:r>
              <a:rPr lang="en-US" dirty="0"/>
              <a:t>We can’t add multiple children in the Container</a:t>
            </a:r>
          </a:p>
        </p:txBody>
      </p:sp>
    </p:spTree>
    <p:extLst>
      <p:ext uri="{BB962C8B-B14F-4D97-AF65-F5344CB8AC3E}">
        <p14:creationId xmlns:p14="http://schemas.microsoft.com/office/powerpoint/2010/main" val="3884087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691DE-39C3-5036-FCA8-9B7303DCCC97}"/>
              </a:ext>
            </a:extLst>
          </p:cNvPr>
          <p:cNvSpPr>
            <a:spLocks noGrp="1"/>
          </p:cNvSpPr>
          <p:nvPr>
            <p:ph type="title"/>
          </p:nvPr>
        </p:nvSpPr>
        <p:spPr/>
        <p:txBody>
          <a:bodyPr>
            <a:normAutofit/>
          </a:bodyPr>
          <a:lstStyle/>
          <a:p>
            <a:pPr marL="742950" indent="-742950">
              <a:buFont typeface="+mj-lt"/>
              <a:buAutoNum type="arabicPeriod" startAt="3"/>
            </a:pPr>
            <a:r>
              <a:rPr lang="en-US" b="1" dirty="0">
                <a:effectLst/>
                <a:latin typeface="inherit"/>
              </a:rPr>
              <a:t>How to Use Column and Row Widgets for Layout</a:t>
            </a:r>
            <a:endParaRPr lang="en-US" dirty="0"/>
          </a:p>
        </p:txBody>
      </p:sp>
      <p:sp>
        <p:nvSpPr>
          <p:cNvPr id="3" name="Content Placeholder 2">
            <a:extLst>
              <a:ext uri="{FF2B5EF4-FFF2-40B4-BE49-F238E27FC236}">
                <a16:creationId xmlns:a16="http://schemas.microsoft.com/office/drawing/2014/main" id="{C4D284A8-2F77-633D-7E62-CBA51F51012B}"/>
              </a:ext>
            </a:extLst>
          </p:cNvPr>
          <p:cNvSpPr>
            <a:spLocks noGrp="1"/>
          </p:cNvSpPr>
          <p:nvPr>
            <p:ph sz="half" idx="1"/>
          </p:nvPr>
        </p:nvSpPr>
        <p:spPr/>
        <p:txBody>
          <a:bodyPr/>
          <a:lstStyle/>
          <a:p>
            <a:r>
              <a:rPr lang="en-US" dirty="0"/>
              <a:t>If you design requires lots of children; not like a container with one child, then we need Column and Row Widgets</a:t>
            </a:r>
          </a:p>
          <a:p>
            <a:r>
              <a:rPr lang="en-US" dirty="0"/>
              <a:t>Columns for vertical &amp; Rows for horizontal</a:t>
            </a:r>
          </a:p>
          <a:p>
            <a:r>
              <a:rPr lang="en-US" dirty="0"/>
              <a:t>Column/Row has attribute children:[ ], whereas square brackets means list of widgets just think like an array</a:t>
            </a:r>
          </a:p>
        </p:txBody>
      </p:sp>
      <p:pic>
        <p:nvPicPr>
          <p:cNvPr id="6" name="Content Placeholder 5" descr="A blue and white squares&#10;&#10;Description automatically generated">
            <a:extLst>
              <a:ext uri="{FF2B5EF4-FFF2-40B4-BE49-F238E27FC236}">
                <a16:creationId xmlns:a16="http://schemas.microsoft.com/office/drawing/2014/main" id="{CE56949C-33DD-D4DB-4AC8-1942FA7DD1C8}"/>
              </a:ext>
            </a:extLst>
          </p:cNvPr>
          <p:cNvPicPr>
            <a:picLocks noGrp="1" noChangeAspect="1"/>
          </p:cNvPicPr>
          <p:nvPr>
            <p:ph sz="half" idx="2"/>
          </p:nvPr>
        </p:nvPicPr>
        <p:blipFill>
          <a:blip r:embed="rId2"/>
          <a:stretch>
            <a:fillRect/>
          </a:stretch>
        </p:blipFill>
        <p:spPr>
          <a:xfrm>
            <a:off x="6172200" y="2501824"/>
            <a:ext cx="5181600" cy="2998939"/>
          </a:xfrm>
        </p:spPr>
      </p:pic>
    </p:spTree>
    <p:extLst>
      <p:ext uri="{BB962C8B-B14F-4D97-AF65-F5344CB8AC3E}">
        <p14:creationId xmlns:p14="http://schemas.microsoft.com/office/powerpoint/2010/main" val="1042546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B7298-C16F-C3D6-2E03-7AF001DE5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AFAA0-C184-DACC-FF56-B4911EFACA99}"/>
              </a:ext>
            </a:extLst>
          </p:cNvPr>
          <p:cNvSpPr>
            <a:spLocks noGrp="1"/>
          </p:cNvSpPr>
          <p:nvPr>
            <p:ph type="title"/>
          </p:nvPr>
        </p:nvSpPr>
        <p:spPr/>
        <p:txBody>
          <a:bodyPr>
            <a:normAutofit/>
          </a:bodyPr>
          <a:lstStyle/>
          <a:p>
            <a:pPr marL="742950" indent="-742950">
              <a:buFont typeface="+mj-lt"/>
              <a:buAutoNum type="arabicPeriod" startAt="3"/>
            </a:pPr>
            <a:r>
              <a:rPr lang="en-US" b="1" dirty="0">
                <a:effectLst/>
                <a:latin typeface="inherit"/>
              </a:rPr>
              <a:t>How to Use Column and Row Widgets for Layout</a:t>
            </a:r>
            <a:endParaRPr lang="en-US" dirty="0"/>
          </a:p>
        </p:txBody>
      </p:sp>
      <p:sp>
        <p:nvSpPr>
          <p:cNvPr id="3" name="Content Placeholder 2">
            <a:extLst>
              <a:ext uri="{FF2B5EF4-FFF2-40B4-BE49-F238E27FC236}">
                <a16:creationId xmlns:a16="http://schemas.microsoft.com/office/drawing/2014/main" id="{3BB33A42-C522-3506-86AD-625DBEFA48F3}"/>
              </a:ext>
            </a:extLst>
          </p:cNvPr>
          <p:cNvSpPr>
            <a:spLocks noGrp="1"/>
          </p:cNvSpPr>
          <p:nvPr>
            <p:ph sz="half" idx="1"/>
          </p:nvPr>
        </p:nvSpPr>
        <p:spPr/>
        <p:txBody>
          <a:bodyPr>
            <a:normAutofit fontScale="77500" lnSpcReduction="20000"/>
          </a:bodyPr>
          <a:lstStyle/>
          <a:p>
            <a:r>
              <a:rPr lang="en-US" dirty="0"/>
              <a:t>Column automatically try and take up as much of the vertical space as possible hint check flutter inspector</a:t>
            </a:r>
          </a:p>
          <a:p>
            <a:r>
              <a:rPr lang="en-US" dirty="0"/>
              <a:t>We can restrict the space by using </a:t>
            </a:r>
            <a:r>
              <a:rPr lang="en-US" b="1" u="sng" dirty="0" err="1"/>
              <a:t>mainAxisSize</a:t>
            </a:r>
            <a:r>
              <a:rPr lang="en-US" dirty="0"/>
              <a:t> attribute</a:t>
            </a:r>
          </a:p>
          <a:p>
            <a:r>
              <a:rPr lang="en-US" dirty="0"/>
              <a:t>We can change direction up and down</a:t>
            </a:r>
          </a:p>
          <a:p>
            <a:r>
              <a:rPr lang="en-US" dirty="0"/>
              <a:t>We can change the Alignment; by default its start alignment, we can do end, center, </a:t>
            </a:r>
            <a:r>
              <a:rPr lang="en-US" dirty="0" err="1"/>
              <a:t>spaceEvenly</a:t>
            </a:r>
            <a:r>
              <a:rPr lang="en-US" dirty="0"/>
              <a:t>, </a:t>
            </a:r>
            <a:r>
              <a:rPr lang="en-US" dirty="0" err="1"/>
              <a:t>spaceBetwen</a:t>
            </a:r>
            <a:endParaRPr lang="en-US" dirty="0"/>
          </a:p>
          <a:p>
            <a:r>
              <a:rPr lang="en-US" dirty="0">
                <a:effectLst/>
              </a:rPr>
              <a:t>We align the </a:t>
            </a:r>
            <a:r>
              <a:rPr lang="en-US" dirty="0" err="1">
                <a:effectLst/>
              </a:rPr>
              <a:t>widegts</a:t>
            </a:r>
            <a:r>
              <a:rPr lang="en-US" dirty="0">
                <a:effectLst/>
              </a:rPr>
              <a:t> horizontally in the column using </a:t>
            </a:r>
            <a:r>
              <a:rPr lang="en-US" dirty="0" err="1">
                <a:effectLst/>
              </a:rPr>
              <a:t>crossAxisAlignment</a:t>
            </a:r>
            <a:r>
              <a:rPr lang="en-US" dirty="0">
                <a:effectLst/>
              </a:rPr>
              <a:t>, we can do </a:t>
            </a:r>
            <a:r>
              <a:rPr lang="en-US" dirty="0" err="1">
                <a:effectLst/>
              </a:rPr>
              <a:t>start,end,stretch</a:t>
            </a:r>
            <a:endParaRPr lang="en-US" dirty="0">
              <a:effectLst/>
            </a:endParaRPr>
          </a:p>
          <a:p>
            <a:r>
              <a:rPr lang="en-US" dirty="0"/>
              <a:t>We can give gap between the widgets, if you know the specific gap for that we use </a:t>
            </a:r>
            <a:r>
              <a:rPr lang="en-US" dirty="0" err="1"/>
              <a:t>SizedBox</a:t>
            </a:r>
            <a:r>
              <a:rPr lang="en-US" dirty="0"/>
              <a:t> widget in the column</a:t>
            </a:r>
            <a:endParaRPr lang="en-US" dirty="0">
              <a:effectLst/>
            </a:endParaRPr>
          </a:p>
          <a:p>
            <a:pPr marL="0" indent="0">
              <a:buNone/>
            </a:pPr>
            <a:endParaRPr lang="en-US" dirty="0"/>
          </a:p>
          <a:p>
            <a:pPr marL="0" indent="0">
              <a:buNone/>
            </a:pPr>
            <a:endParaRPr lang="en-US" dirty="0"/>
          </a:p>
        </p:txBody>
      </p:sp>
      <p:pic>
        <p:nvPicPr>
          <p:cNvPr id="6" name="Content Placeholder 5" descr="A blue and white squares&#10;&#10;Description automatically generated">
            <a:extLst>
              <a:ext uri="{FF2B5EF4-FFF2-40B4-BE49-F238E27FC236}">
                <a16:creationId xmlns:a16="http://schemas.microsoft.com/office/drawing/2014/main" id="{1A8AA789-6AA0-138E-10B8-C4AE9388E53B}"/>
              </a:ext>
            </a:extLst>
          </p:cNvPr>
          <p:cNvPicPr>
            <a:picLocks noGrp="1" noChangeAspect="1"/>
          </p:cNvPicPr>
          <p:nvPr>
            <p:ph sz="half" idx="2"/>
          </p:nvPr>
        </p:nvPicPr>
        <p:blipFill>
          <a:blip r:embed="rId2"/>
          <a:stretch>
            <a:fillRect/>
          </a:stretch>
        </p:blipFill>
        <p:spPr>
          <a:xfrm>
            <a:off x="6172200" y="2501824"/>
            <a:ext cx="5181600" cy="2998939"/>
          </a:xfrm>
        </p:spPr>
      </p:pic>
    </p:spTree>
    <p:extLst>
      <p:ext uri="{BB962C8B-B14F-4D97-AF65-F5344CB8AC3E}">
        <p14:creationId xmlns:p14="http://schemas.microsoft.com/office/powerpoint/2010/main" val="3024572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09B16-8C76-80B7-723F-570C5D18086F}"/>
              </a:ext>
            </a:extLst>
          </p:cNvPr>
          <p:cNvSpPr>
            <a:spLocks noGrp="1"/>
          </p:cNvSpPr>
          <p:nvPr>
            <p:ph type="title"/>
          </p:nvPr>
        </p:nvSpPr>
        <p:spPr/>
        <p:txBody>
          <a:bodyPr>
            <a:normAutofit/>
          </a:bodyPr>
          <a:lstStyle/>
          <a:p>
            <a:r>
              <a:rPr lang="en-US" b="1" dirty="0">
                <a:effectLst/>
                <a:latin typeface="inherit"/>
              </a:rPr>
              <a:t>  Flutter Layouts Challenge</a:t>
            </a:r>
            <a:endParaRPr lang="en-US" dirty="0"/>
          </a:p>
        </p:txBody>
      </p:sp>
      <p:sp>
        <p:nvSpPr>
          <p:cNvPr id="7" name="Content Placeholder 6">
            <a:extLst>
              <a:ext uri="{FF2B5EF4-FFF2-40B4-BE49-F238E27FC236}">
                <a16:creationId xmlns:a16="http://schemas.microsoft.com/office/drawing/2014/main" id="{21D7E3A7-162E-A143-439A-720D8FD59F5B}"/>
              </a:ext>
            </a:extLst>
          </p:cNvPr>
          <p:cNvSpPr>
            <a:spLocks noGrp="1"/>
          </p:cNvSpPr>
          <p:nvPr>
            <p:ph sz="half" idx="1"/>
          </p:nvPr>
        </p:nvSpPr>
        <p:spPr>
          <a:xfrm>
            <a:off x="838199" y="1825625"/>
            <a:ext cx="6383215" cy="4351338"/>
          </a:xfrm>
        </p:spPr>
        <p:txBody>
          <a:bodyPr>
            <a:normAutofit fontScale="92500" lnSpcReduction="20000"/>
          </a:bodyPr>
          <a:lstStyle/>
          <a:p>
            <a:r>
              <a:rPr lang="en-US" dirty="0"/>
              <a:t>Now that you have learnt about Column and Row Widgets and how to use them to layout your app, it's time to test your understanding.</a:t>
            </a:r>
          </a:p>
          <a:p>
            <a:r>
              <a:rPr lang="en-US" dirty="0"/>
              <a:t>Head over to the given picture and take a look of a layout that I would like you to try and replicate with code. </a:t>
            </a:r>
          </a:p>
          <a:p>
            <a:r>
              <a:rPr lang="en-US" dirty="0"/>
              <a:t>I recommend using the existing Mi Card app to create this layout and once you've achieved the desired look and you're satisfied with the solution then you can delete the challenge code from the project.</a:t>
            </a:r>
            <a:br>
              <a:rPr lang="en-US" dirty="0"/>
            </a:br>
            <a:endParaRPr lang="en-US" dirty="0"/>
          </a:p>
        </p:txBody>
      </p:sp>
      <p:pic>
        <p:nvPicPr>
          <p:cNvPr id="10" name="Content Placeholder 9" descr="A colorful rectangular shapes with white text&#10;&#10;Description automatically generated with medium confidence">
            <a:extLst>
              <a:ext uri="{FF2B5EF4-FFF2-40B4-BE49-F238E27FC236}">
                <a16:creationId xmlns:a16="http://schemas.microsoft.com/office/drawing/2014/main" id="{80A320E9-6414-5588-2462-B16D84009564}"/>
              </a:ext>
            </a:extLst>
          </p:cNvPr>
          <p:cNvPicPr>
            <a:picLocks noGrp="1" noChangeAspect="1"/>
          </p:cNvPicPr>
          <p:nvPr>
            <p:ph sz="half" idx="2"/>
          </p:nvPr>
        </p:nvPicPr>
        <p:blipFill>
          <a:blip r:embed="rId2"/>
          <a:stretch>
            <a:fillRect/>
          </a:stretch>
        </p:blipFill>
        <p:spPr>
          <a:xfrm>
            <a:off x="7387531" y="585315"/>
            <a:ext cx="4317961" cy="5439248"/>
          </a:xfrm>
        </p:spPr>
      </p:pic>
    </p:spTree>
    <p:extLst>
      <p:ext uri="{BB962C8B-B14F-4D97-AF65-F5344CB8AC3E}">
        <p14:creationId xmlns:p14="http://schemas.microsoft.com/office/powerpoint/2010/main" val="2705271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51B02-DF23-96BD-86FD-9C64AAADAE0D}"/>
              </a:ext>
            </a:extLst>
          </p:cNvPr>
          <p:cNvSpPr>
            <a:spLocks noGrp="1"/>
          </p:cNvSpPr>
          <p:nvPr>
            <p:ph type="title"/>
          </p:nvPr>
        </p:nvSpPr>
        <p:spPr/>
        <p:txBody>
          <a:bodyPr/>
          <a:lstStyle/>
          <a:p>
            <a:r>
              <a:rPr lang="en-US" b="1" dirty="0">
                <a:effectLst/>
                <a:latin typeface="inherit"/>
              </a:rPr>
              <a:t>  5. Tapping into Widget Properties</a:t>
            </a:r>
            <a:endParaRPr lang="en-US" dirty="0"/>
          </a:p>
        </p:txBody>
      </p:sp>
      <p:sp>
        <p:nvSpPr>
          <p:cNvPr id="3" name="Content Placeholder 2">
            <a:extLst>
              <a:ext uri="{FF2B5EF4-FFF2-40B4-BE49-F238E27FC236}">
                <a16:creationId xmlns:a16="http://schemas.microsoft.com/office/drawing/2014/main" id="{67728B89-3D32-826F-CF62-7C3A7D180A7F}"/>
              </a:ext>
            </a:extLst>
          </p:cNvPr>
          <p:cNvSpPr>
            <a:spLocks noGrp="1"/>
          </p:cNvSpPr>
          <p:nvPr>
            <p:ph sz="half" idx="1"/>
          </p:nvPr>
        </p:nvSpPr>
        <p:spPr/>
        <p:txBody>
          <a:bodyPr/>
          <a:lstStyle/>
          <a:p>
            <a:r>
              <a:rPr lang="en-US" dirty="0"/>
              <a:t>Lets start building final product, if you notice layout is top to bottom, and for that we have widget Column.</a:t>
            </a:r>
          </a:p>
          <a:p>
            <a:r>
              <a:rPr lang="en-US" dirty="0"/>
              <a:t>Inside column we need widgets which can display image, text , and material card which shows phone # and email address, </a:t>
            </a:r>
          </a:p>
          <a:p>
            <a:pPr marL="0" indent="0">
              <a:buNone/>
            </a:pPr>
            <a:r>
              <a:rPr lang="en-US" dirty="0"/>
              <a:t>SO LETS START</a:t>
            </a:r>
          </a:p>
        </p:txBody>
      </p:sp>
      <p:pic>
        <p:nvPicPr>
          <p:cNvPr id="5" name="Content Placeholder 4">
            <a:extLst>
              <a:ext uri="{FF2B5EF4-FFF2-40B4-BE49-F238E27FC236}">
                <a16:creationId xmlns:a16="http://schemas.microsoft.com/office/drawing/2014/main" id="{E02ACC39-922B-0758-F241-EED863001B9B}"/>
              </a:ext>
            </a:extLst>
          </p:cNvPr>
          <p:cNvPicPr>
            <a:picLocks noGrp="1" noChangeAspect="1"/>
          </p:cNvPicPr>
          <p:nvPr>
            <p:ph sz="half" idx="2"/>
          </p:nvPr>
        </p:nvPicPr>
        <p:blipFill>
          <a:blip r:embed="rId2"/>
          <a:srcRect/>
          <a:stretch/>
        </p:blipFill>
        <p:spPr>
          <a:xfrm>
            <a:off x="6587331" y="1825625"/>
            <a:ext cx="4351338" cy="4351338"/>
          </a:xfrm>
          <a:prstGeom prst="rect">
            <a:avLst/>
          </a:prstGeom>
        </p:spPr>
      </p:pic>
    </p:spTree>
    <p:extLst>
      <p:ext uri="{BB962C8B-B14F-4D97-AF65-F5344CB8AC3E}">
        <p14:creationId xmlns:p14="http://schemas.microsoft.com/office/powerpoint/2010/main" val="3488901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32F36-063E-C258-4F49-91006C1BAF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57ACD-6C34-890F-A239-5EA4578DE7A7}"/>
              </a:ext>
            </a:extLst>
          </p:cNvPr>
          <p:cNvSpPr>
            <a:spLocks noGrp="1"/>
          </p:cNvSpPr>
          <p:nvPr>
            <p:ph type="title"/>
          </p:nvPr>
        </p:nvSpPr>
        <p:spPr/>
        <p:txBody>
          <a:bodyPr/>
          <a:lstStyle/>
          <a:p>
            <a:r>
              <a:rPr lang="en-US" b="1" dirty="0">
                <a:effectLst/>
                <a:latin typeface="inherit"/>
              </a:rPr>
              <a:t>  5. Tapping into Widget Properties anatomy</a:t>
            </a:r>
            <a:endParaRPr lang="en-US" dirty="0"/>
          </a:p>
        </p:txBody>
      </p:sp>
      <p:sp>
        <p:nvSpPr>
          <p:cNvPr id="14" name="Content Placeholder 13">
            <a:extLst>
              <a:ext uri="{FF2B5EF4-FFF2-40B4-BE49-F238E27FC236}">
                <a16:creationId xmlns:a16="http://schemas.microsoft.com/office/drawing/2014/main" id="{A75BAE3B-0CB7-C14C-FA83-93FC3821ADCB}"/>
              </a:ext>
            </a:extLst>
          </p:cNvPr>
          <p:cNvSpPr>
            <a:spLocks noGrp="1"/>
          </p:cNvSpPr>
          <p:nvPr>
            <p:ph sz="half" idx="1"/>
          </p:nvPr>
        </p:nvSpPr>
        <p:spPr/>
        <p:txBody>
          <a:bodyPr>
            <a:normAutofit fontScale="77500" lnSpcReduction="20000"/>
          </a:bodyPr>
          <a:lstStyle/>
          <a:p>
            <a:r>
              <a:rPr lang="en-US" dirty="0"/>
              <a:t>Add Column Widget</a:t>
            </a:r>
          </a:p>
          <a:p>
            <a:r>
              <a:rPr lang="en-US" dirty="0"/>
              <a:t>Add </a:t>
            </a:r>
            <a:r>
              <a:rPr lang="en-US" dirty="0" err="1"/>
              <a:t>CircularAvatar</a:t>
            </a:r>
            <a:r>
              <a:rPr lang="en-US" dirty="0"/>
              <a:t> Widget, radius:50</a:t>
            </a:r>
          </a:p>
          <a:p>
            <a:r>
              <a:rPr lang="en-US" dirty="0"/>
              <a:t>Add Image widget inside </a:t>
            </a:r>
            <a:r>
              <a:rPr lang="en-US" dirty="0" err="1"/>
              <a:t>CiruclarAvatar</a:t>
            </a:r>
            <a:r>
              <a:rPr lang="en-US" dirty="0"/>
              <a:t>, for that create folder as image, save the photo in it and update the </a:t>
            </a:r>
            <a:r>
              <a:rPr lang="en-US" dirty="0" err="1"/>
              <a:t>pubspec.yaml</a:t>
            </a:r>
            <a:r>
              <a:rPr lang="en-US" dirty="0"/>
              <a:t> file to declare your assets then hit Pub get option</a:t>
            </a:r>
          </a:p>
          <a:p>
            <a:r>
              <a:rPr lang="en-US" dirty="0"/>
              <a:t>Declare attribute </a:t>
            </a:r>
            <a:r>
              <a:rPr lang="en-US" dirty="0" err="1"/>
              <a:t>backgroundImage</a:t>
            </a:r>
            <a:r>
              <a:rPr lang="en-US" dirty="0"/>
              <a:t>: </a:t>
            </a:r>
            <a:r>
              <a:rPr lang="en-US" dirty="0" err="1"/>
              <a:t>AssetImage</a:t>
            </a:r>
            <a:r>
              <a:rPr lang="en-US" dirty="0"/>
              <a:t>()</a:t>
            </a:r>
          </a:p>
          <a:p>
            <a:r>
              <a:rPr lang="en-US" dirty="0"/>
              <a:t>Now add Text widget in Column for name and designation</a:t>
            </a:r>
          </a:p>
          <a:p>
            <a:r>
              <a:rPr lang="en-US" dirty="0"/>
              <a:t>Change the default text style: </a:t>
            </a:r>
            <a:r>
              <a:rPr lang="en-US" dirty="0" err="1"/>
              <a:t>TextStyle</a:t>
            </a:r>
            <a:r>
              <a:rPr lang="en-US" dirty="0"/>
              <a:t> such as </a:t>
            </a:r>
            <a:r>
              <a:rPr lang="en-US" dirty="0" err="1"/>
              <a:t>fontSize,color,fontWeight</a:t>
            </a:r>
            <a:endParaRPr lang="en-US" dirty="0"/>
          </a:p>
          <a:p>
            <a:endParaRPr lang="en-US" dirty="0"/>
          </a:p>
        </p:txBody>
      </p:sp>
      <p:pic>
        <p:nvPicPr>
          <p:cNvPr id="5" name="Content Placeholder 4">
            <a:extLst>
              <a:ext uri="{FF2B5EF4-FFF2-40B4-BE49-F238E27FC236}">
                <a16:creationId xmlns:a16="http://schemas.microsoft.com/office/drawing/2014/main" id="{28C09FEE-13E6-42D9-F872-4A2C23ECC4FC}"/>
              </a:ext>
            </a:extLst>
          </p:cNvPr>
          <p:cNvPicPr>
            <a:picLocks noGrp="1" noChangeAspect="1"/>
          </p:cNvPicPr>
          <p:nvPr>
            <p:ph sz="half" idx="2"/>
          </p:nvPr>
        </p:nvPicPr>
        <p:blipFill>
          <a:blip r:embed="rId2"/>
          <a:stretch/>
        </p:blipFill>
        <p:spPr>
          <a:xfrm>
            <a:off x="6587331" y="1825625"/>
            <a:ext cx="4351338" cy="4351338"/>
          </a:xfrm>
          <a:prstGeom prst="rect">
            <a:avLst/>
          </a:prstGeom>
        </p:spPr>
      </p:pic>
    </p:spTree>
    <p:extLst>
      <p:ext uri="{BB962C8B-B14F-4D97-AF65-F5344CB8AC3E}">
        <p14:creationId xmlns:p14="http://schemas.microsoft.com/office/powerpoint/2010/main" val="11296509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CA63C-1BF9-90A9-DE62-6D7249492F5C}"/>
              </a:ext>
            </a:extLst>
          </p:cNvPr>
          <p:cNvSpPr>
            <a:spLocks noGrp="1"/>
          </p:cNvSpPr>
          <p:nvPr>
            <p:ph type="title"/>
          </p:nvPr>
        </p:nvSpPr>
        <p:spPr/>
        <p:txBody>
          <a:bodyPr>
            <a:normAutofit/>
          </a:bodyPr>
          <a:lstStyle/>
          <a:p>
            <a:r>
              <a:rPr lang="en-US" b="1" dirty="0">
                <a:effectLst/>
                <a:latin typeface="inherit"/>
              </a:rPr>
              <a:t>6. Incorporating Custom Fonts in Your Flutter App</a:t>
            </a:r>
            <a:endParaRPr lang="en-US" dirty="0"/>
          </a:p>
        </p:txBody>
      </p:sp>
      <p:sp>
        <p:nvSpPr>
          <p:cNvPr id="3" name="Content Placeholder 2">
            <a:extLst>
              <a:ext uri="{FF2B5EF4-FFF2-40B4-BE49-F238E27FC236}">
                <a16:creationId xmlns:a16="http://schemas.microsoft.com/office/drawing/2014/main" id="{3435CAD6-FCA1-6EAA-DE44-276688B8005B}"/>
              </a:ext>
            </a:extLst>
          </p:cNvPr>
          <p:cNvSpPr>
            <a:spLocks noGrp="1"/>
          </p:cNvSpPr>
          <p:nvPr>
            <p:ph sz="half" idx="1"/>
          </p:nvPr>
        </p:nvSpPr>
        <p:spPr/>
        <p:txBody>
          <a:bodyPr>
            <a:normAutofit fontScale="70000" lnSpcReduction="20000"/>
          </a:bodyPr>
          <a:lstStyle/>
          <a:p>
            <a:r>
              <a:rPr lang="en-US" dirty="0"/>
              <a:t>Download font from </a:t>
            </a:r>
            <a:r>
              <a:rPr lang="en-US" dirty="0">
                <a:hlinkClick r:id="rId2"/>
              </a:rPr>
              <a:t>https://fonts.google.com</a:t>
            </a:r>
            <a:r>
              <a:rPr lang="en-US" dirty="0"/>
              <a:t> </a:t>
            </a:r>
          </a:p>
          <a:p>
            <a:r>
              <a:rPr lang="en-US" dirty="0"/>
              <a:t>As shown in the picture its font: </a:t>
            </a:r>
            <a:r>
              <a:rPr lang="en-US" dirty="0" err="1"/>
              <a:t>Pacifico</a:t>
            </a:r>
            <a:endParaRPr lang="en-US" dirty="0"/>
          </a:p>
          <a:p>
            <a:r>
              <a:rPr lang="en-US" dirty="0"/>
              <a:t>For the designation download another font i.e. source sans Pro</a:t>
            </a:r>
          </a:p>
          <a:p>
            <a:r>
              <a:rPr lang="en-US" dirty="0"/>
              <a:t>Add Text for designation, change style, </a:t>
            </a:r>
            <a:r>
              <a:rPr lang="en-US" dirty="0" err="1"/>
              <a:t>fontFamily</a:t>
            </a:r>
            <a:r>
              <a:rPr lang="en-US" dirty="0"/>
              <a:t>, </a:t>
            </a:r>
            <a:r>
              <a:rPr lang="en-US" dirty="0" err="1"/>
              <a:t>fontSize</a:t>
            </a:r>
            <a:r>
              <a:rPr lang="en-US" dirty="0"/>
              <a:t>, color, </a:t>
            </a:r>
            <a:r>
              <a:rPr lang="en-US" dirty="0" err="1"/>
              <a:t>fontWeight</a:t>
            </a:r>
            <a:r>
              <a:rPr lang="en-US" dirty="0"/>
              <a:t>, </a:t>
            </a:r>
            <a:r>
              <a:rPr lang="en-US" dirty="0" err="1"/>
              <a:t>letterSpacing</a:t>
            </a:r>
            <a:endParaRPr lang="en-US" dirty="0"/>
          </a:p>
          <a:p>
            <a:r>
              <a:rPr lang="en-US" dirty="0"/>
              <a:t>Now create two container for phone # and email, with the icons and text</a:t>
            </a:r>
          </a:p>
          <a:p>
            <a:r>
              <a:rPr lang="en-US" dirty="0"/>
              <a:t>Each container have Row and inside Row have Icon + Text widgets as children</a:t>
            </a:r>
          </a:p>
          <a:p>
            <a:r>
              <a:rPr lang="en-US" dirty="0"/>
              <a:t>Each container margin: </a:t>
            </a:r>
            <a:r>
              <a:rPr lang="en-US" dirty="0" err="1"/>
              <a:t>EdgeInsets.symmertric</a:t>
            </a:r>
            <a:r>
              <a:rPr lang="en-US" dirty="0"/>
              <a:t> (vertical:10, horizontal:25), and Padding all sides 10</a:t>
            </a:r>
          </a:p>
        </p:txBody>
      </p:sp>
      <p:pic>
        <p:nvPicPr>
          <p:cNvPr id="5" name="Content Placeholder 4">
            <a:extLst>
              <a:ext uri="{FF2B5EF4-FFF2-40B4-BE49-F238E27FC236}">
                <a16:creationId xmlns:a16="http://schemas.microsoft.com/office/drawing/2014/main" id="{3BE7194F-0CB6-26EF-9210-F502E39C9A67}"/>
              </a:ext>
            </a:extLst>
          </p:cNvPr>
          <p:cNvPicPr>
            <a:picLocks noGrp="1" noChangeAspect="1"/>
          </p:cNvPicPr>
          <p:nvPr>
            <p:ph sz="half" idx="2"/>
          </p:nvPr>
        </p:nvPicPr>
        <p:blipFill>
          <a:blip r:embed="rId3"/>
          <a:stretch/>
        </p:blipFill>
        <p:spPr>
          <a:xfrm>
            <a:off x="6587331" y="1825625"/>
            <a:ext cx="4351338" cy="4351338"/>
          </a:xfrm>
          <a:prstGeom prst="rect">
            <a:avLst/>
          </a:prstGeom>
        </p:spPr>
      </p:pic>
    </p:spTree>
    <p:extLst>
      <p:ext uri="{BB962C8B-B14F-4D97-AF65-F5344CB8AC3E}">
        <p14:creationId xmlns:p14="http://schemas.microsoft.com/office/powerpoint/2010/main" val="24799442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689ED-D998-2D42-F594-D6615EE267FB}"/>
              </a:ext>
            </a:extLst>
          </p:cNvPr>
          <p:cNvSpPr>
            <a:spLocks noGrp="1"/>
          </p:cNvSpPr>
          <p:nvPr>
            <p:ph type="title"/>
          </p:nvPr>
        </p:nvSpPr>
        <p:spPr/>
        <p:txBody>
          <a:bodyPr/>
          <a:lstStyle/>
          <a:p>
            <a:r>
              <a:rPr lang="en-US" dirty="0"/>
              <a:t>8. </a:t>
            </a:r>
            <a:r>
              <a:rPr lang="en-US" b="1" dirty="0">
                <a:effectLst/>
                <a:latin typeface="inherit"/>
              </a:rPr>
              <a:t>Flutter Card &amp; </a:t>
            </a:r>
            <a:r>
              <a:rPr lang="en-US" b="1" dirty="0" err="1">
                <a:effectLst/>
                <a:latin typeface="inherit"/>
              </a:rPr>
              <a:t>ListTile</a:t>
            </a:r>
            <a:r>
              <a:rPr lang="en-US" b="1" dirty="0">
                <a:effectLst/>
                <a:latin typeface="inherit"/>
              </a:rPr>
              <a:t> Widget</a:t>
            </a:r>
            <a:endParaRPr lang="en-US" dirty="0"/>
          </a:p>
        </p:txBody>
      </p:sp>
      <p:sp>
        <p:nvSpPr>
          <p:cNvPr id="3" name="Content Placeholder 2">
            <a:extLst>
              <a:ext uri="{FF2B5EF4-FFF2-40B4-BE49-F238E27FC236}">
                <a16:creationId xmlns:a16="http://schemas.microsoft.com/office/drawing/2014/main" id="{3B2BACA5-E3AD-C280-5BB2-F54A72B95E64}"/>
              </a:ext>
            </a:extLst>
          </p:cNvPr>
          <p:cNvSpPr>
            <a:spLocks noGrp="1"/>
          </p:cNvSpPr>
          <p:nvPr>
            <p:ph sz="half" idx="1"/>
          </p:nvPr>
        </p:nvSpPr>
        <p:spPr>
          <a:xfrm>
            <a:off x="838200" y="1402114"/>
            <a:ext cx="5181600" cy="4351338"/>
          </a:xfrm>
        </p:spPr>
        <p:txBody>
          <a:bodyPr>
            <a:noAutofit/>
          </a:bodyPr>
          <a:lstStyle/>
          <a:p>
            <a:r>
              <a:rPr lang="en-US" sz="1800" dirty="0"/>
              <a:t>If notice the containers are in rounded corners, so we need that, there are two options for that either modify the container or simply replace the container with Card widget</a:t>
            </a:r>
          </a:p>
          <a:p>
            <a:r>
              <a:rPr lang="en-US" sz="1800" dirty="0"/>
              <a:t>For container use decoration: </a:t>
            </a:r>
            <a:r>
              <a:rPr lang="en-US" sz="1800" dirty="0" err="1"/>
              <a:t>BoxDecoration</a:t>
            </a:r>
            <a:r>
              <a:rPr lang="en-US" sz="1800" dirty="0"/>
              <a:t>(</a:t>
            </a:r>
            <a:r>
              <a:rPr lang="en-US" sz="1800" dirty="0" err="1"/>
              <a:t>borderRadius,color</a:t>
            </a:r>
            <a:r>
              <a:rPr lang="en-US" sz="1800" dirty="0"/>
              <a:t>), if using this then you don’t need color attribute of container</a:t>
            </a:r>
          </a:p>
          <a:p>
            <a:r>
              <a:rPr lang="en-US" sz="1800" dirty="0"/>
              <a:t>If use Card widget, replace container with the Card, rest style will be manage by Card itself automatically, such as border corners</a:t>
            </a:r>
          </a:p>
          <a:p>
            <a:r>
              <a:rPr lang="en-US" sz="1800" dirty="0"/>
              <a:t>In Card there is no padding attribute like container, for that we use wrapping child widget with Padding</a:t>
            </a:r>
          </a:p>
          <a:p>
            <a:r>
              <a:rPr lang="en-US" sz="1800" dirty="0"/>
              <a:t>Even we replace the row child of card with the </a:t>
            </a:r>
            <a:r>
              <a:rPr lang="en-US" sz="1800" dirty="0" err="1"/>
              <a:t>ListTile</a:t>
            </a:r>
            <a:r>
              <a:rPr lang="en-US" sz="1800" dirty="0"/>
              <a:t> Widget, usually with card </a:t>
            </a:r>
            <a:r>
              <a:rPr lang="en-US" sz="1800" dirty="0" err="1"/>
              <a:t>ListTile</a:t>
            </a:r>
            <a:r>
              <a:rPr lang="en-US" sz="1800" dirty="0"/>
              <a:t> being used because it gives you icon + text widget</a:t>
            </a:r>
          </a:p>
          <a:p>
            <a:r>
              <a:rPr lang="en-US" sz="1800" dirty="0"/>
              <a:t>Card by default comes with white color, so we can remove the color attribute using in the container previously</a:t>
            </a:r>
          </a:p>
        </p:txBody>
      </p:sp>
      <p:pic>
        <p:nvPicPr>
          <p:cNvPr id="5" name="Content Placeholder 4">
            <a:extLst>
              <a:ext uri="{FF2B5EF4-FFF2-40B4-BE49-F238E27FC236}">
                <a16:creationId xmlns:a16="http://schemas.microsoft.com/office/drawing/2014/main" id="{FBBBF517-F2AF-0428-6BC7-686EE6FF10AB}"/>
              </a:ext>
            </a:extLst>
          </p:cNvPr>
          <p:cNvPicPr>
            <a:picLocks noGrp="1" noChangeAspect="1"/>
          </p:cNvPicPr>
          <p:nvPr>
            <p:ph sz="half" idx="2"/>
          </p:nvPr>
        </p:nvPicPr>
        <p:blipFill>
          <a:blip r:embed="rId2"/>
          <a:stretch/>
        </p:blipFill>
        <p:spPr>
          <a:xfrm>
            <a:off x="6587331" y="1825625"/>
            <a:ext cx="4351338" cy="4351338"/>
          </a:xfrm>
          <a:prstGeom prst="rect">
            <a:avLst/>
          </a:prstGeom>
        </p:spPr>
      </p:pic>
    </p:spTree>
    <p:extLst>
      <p:ext uri="{BB962C8B-B14F-4D97-AF65-F5344CB8AC3E}">
        <p14:creationId xmlns:p14="http://schemas.microsoft.com/office/powerpoint/2010/main" val="1423812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012C-0B4B-FAB7-88F8-6D51D945455A}"/>
              </a:ext>
            </a:extLst>
          </p:cNvPr>
          <p:cNvSpPr>
            <a:spLocks noGrp="1"/>
          </p:cNvSpPr>
          <p:nvPr>
            <p:ph type="title"/>
          </p:nvPr>
        </p:nvSpPr>
        <p:spPr/>
        <p:txBody>
          <a:bodyPr/>
          <a:lstStyle/>
          <a:p>
            <a:r>
              <a:rPr lang="en-US" dirty="0"/>
              <a:t>Final Touch Up</a:t>
            </a:r>
          </a:p>
        </p:txBody>
      </p:sp>
      <p:sp>
        <p:nvSpPr>
          <p:cNvPr id="3" name="Content Placeholder 2">
            <a:extLst>
              <a:ext uri="{FF2B5EF4-FFF2-40B4-BE49-F238E27FC236}">
                <a16:creationId xmlns:a16="http://schemas.microsoft.com/office/drawing/2014/main" id="{CC5266A5-E7E4-8A4E-513A-6F31219BDD38}"/>
              </a:ext>
            </a:extLst>
          </p:cNvPr>
          <p:cNvSpPr>
            <a:spLocks noGrp="1"/>
          </p:cNvSpPr>
          <p:nvPr>
            <p:ph sz="half" idx="1"/>
          </p:nvPr>
        </p:nvSpPr>
        <p:spPr/>
        <p:txBody>
          <a:bodyPr>
            <a:normAutofit lnSpcReduction="10000"/>
          </a:bodyPr>
          <a:lstStyle/>
          <a:p>
            <a:r>
              <a:rPr lang="en-US" dirty="0"/>
              <a:t>We build the app almost except center the whole column, for that we use </a:t>
            </a:r>
            <a:r>
              <a:rPr lang="en-US" dirty="0" err="1"/>
              <a:t>mainAxisAlignment</a:t>
            </a:r>
            <a:r>
              <a:rPr lang="en-US" dirty="0"/>
              <a:t> to center</a:t>
            </a:r>
          </a:p>
          <a:p>
            <a:r>
              <a:rPr lang="en-US" dirty="0"/>
              <a:t>Secondly I would like to give line between text and card for that use </a:t>
            </a:r>
            <a:r>
              <a:rPr lang="en-US" dirty="0" err="1"/>
              <a:t>SizeBox</a:t>
            </a:r>
            <a:r>
              <a:rPr lang="en-US" dirty="0"/>
              <a:t> with the child: Divider</a:t>
            </a:r>
          </a:p>
          <a:p>
            <a:r>
              <a:rPr lang="en-US" dirty="0"/>
              <a:t>The Divider is similar as we use in web designing tag i.e. </a:t>
            </a:r>
            <a:r>
              <a:rPr lang="en-US" dirty="0" err="1"/>
              <a:t>hr</a:t>
            </a:r>
            <a:r>
              <a:rPr lang="en-US" dirty="0"/>
              <a:t> to create horizontal row bar</a:t>
            </a:r>
          </a:p>
        </p:txBody>
      </p:sp>
      <p:pic>
        <p:nvPicPr>
          <p:cNvPr id="5" name="Content Placeholder 4">
            <a:extLst>
              <a:ext uri="{FF2B5EF4-FFF2-40B4-BE49-F238E27FC236}">
                <a16:creationId xmlns:a16="http://schemas.microsoft.com/office/drawing/2014/main" id="{61A28816-E5A2-B787-6D5A-7F93B4D4C52A}"/>
              </a:ext>
            </a:extLst>
          </p:cNvPr>
          <p:cNvPicPr>
            <a:picLocks noGrp="1" noChangeAspect="1"/>
          </p:cNvPicPr>
          <p:nvPr>
            <p:ph sz="half" idx="2"/>
          </p:nvPr>
        </p:nvPicPr>
        <p:blipFill>
          <a:blip r:embed="rId2"/>
          <a:stretch/>
        </p:blipFill>
        <p:spPr>
          <a:xfrm>
            <a:off x="6587331" y="1825625"/>
            <a:ext cx="4351338" cy="4351338"/>
          </a:xfrm>
          <a:prstGeom prst="rect">
            <a:avLst/>
          </a:prstGeom>
        </p:spPr>
      </p:pic>
    </p:spTree>
    <p:extLst>
      <p:ext uri="{BB962C8B-B14F-4D97-AF65-F5344CB8AC3E}">
        <p14:creationId xmlns:p14="http://schemas.microsoft.com/office/powerpoint/2010/main" val="30991063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3DA48-6591-CC87-F5A3-93F81C4C2FCA}"/>
              </a:ext>
            </a:extLst>
          </p:cNvPr>
          <p:cNvSpPr>
            <a:spLocks noGrp="1"/>
          </p:cNvSpPr>
          <p:nvPr>
            <p:ph type="title"/>
          </p:nvPr>
        </p:nvSpPr>
        <p:spPr/>
        <p:txBody>
          <a:bodyPr>
            <a:normAutofit/>
          </a:bodyPr>
          <a:lstStyle/>
          <a:p>
            <a:r>
              <a:rPr lang="en-US" dirty="0"/>
              <a:t>RESOURCES - </a:t>
            </a:r>
            <a:r>
              <a:rPr lang="en-US" b="1" i="0" dirty="0">
                <a:solidFill>
                  <a:srgbClr val="F0F6FC"/>
                </a:solidFill>
                <a:effectLst/>
                <a:latin typeface="-apple-system"/>
              </a:rPr>
              <a:t>How to Build Beautiful UIs with Flutter Widgets</a:t>
            </a:r>
            <a:endParaRPr lang="en-US" dirty="0"/>
          </a:p>
        </p:txBody>
      </p:sp>
      <p:sp>
        <p:nvSpPr>
          <p:cNvPr id="3" name="Content Placeholder 2">
            <a:extLst>
              <a:ext uri="{FF2B5EF4-FFF2-40B4-BE49-F238E27FC236}">
                <a16:creationId xmlns:a16="http://schemas.microsoft.com/office/drawing/2014/main" id="{4ED26370-C7FC-B778-691E-6D580FC2ADC7}"/>
              </a:ext>
            </a:extLst>
          </p:cNvPr>
          <p:cNvSpPr>
            <a:spLocks noGrp="1"/>
          </p:cNvSpPr>
          <p:nvPr>
            <p:ph sz="half" idx="1"/>
          </p:nvPr>
        </p:nvSpPr>
        <p:spPr/>
        <p:txBody>
          <a:bodyPr>
            <a:normAutofit fontScale="92500" lnSpcReduction="10000"/>
          </a:bodyPr>
          <a:lstStyle/>
          <a:p>
            <a:pPr marL="514350" indent="-514350" algn="l">
              <a:buFont typeface="+mj-lt"/>
              <a:buAutoNum type="arabicPeriod"/>
            </a:pPr>
            <a:r>
              <a:rPr lang="en-US" b="0" i="0" u="sng" dirty="0">
                <a:effectLst/>
                <a:latin typeface="-apple-system"/>
                <a:hlinkClick r:id="rId3">
                  <a:extLst>
                    <a:ext uri="{A12FA001-AC4F-418D-AE19-62706E023703}">
                      <ahyp:hlinkClr xmlns:ahyp="http://schemas.microsoft.com/office/drawing/2018/hyperlinkcolor" val="tx"/>
                    </a:ext>
                  </a:extLst>
                </a:hlinkClick>
              </a:rPr>
              <a:t>Widgets Catalogue</a:t>
            </a:r>
            <a:endParaRPr lang="en-US" b="0" i="0" dirty="0">
              <a:effectLst/>
              <a:latin typeface="-apple-system"/>
            </a:endParaRPr>
          </a:p>
          <a:p>
            <a:pPr marL="514350" indent="-514350" algn="l">
              <a:buFont typeface="+mj-lt"/>
              <a:buAutoNum type="arabicPeriod"/>
            </a:pPr>
            <a:r>
              <a:rPr lang="en-US" b="0" i="0" u="sng" dirty="0">
                <a:effectLst/>
                <a:latin typeface="-apple-system"/>
                <a:hlinkClick r:id="rId4">
                  <a:extLst>
                    <a:ext uri="{A12FA001-AC4F-418D-AE19-62706E023703}">
                      <ahyp:hlinkClr xmlns:ahyp="http://schemas.microsoft.com/office/drawing/2018/hyperlinkcolor" val="tx"/>
                    </a:ext>
                  </a:extLst>
                </a:hlinkClick>
              </a:rPr>
              <a:t>Container Documentation</a:t>
            </a:r>
            <a:endParaRPr lang="en-US" b="0" i="0" dirty="0">
              <a:effectLst/>
              <a:latin typeface="-apple-system"/>
            </a:endParaRPr>
          </a:p>
          <a:p>
            <a:pPr marL="514350" indent="-514350" algn="l">
              <a:buFont typeface="+mj-lt"/>
              <a:buAutoNum type="arabicPeriod"/>
            </a:pPr>
            <a:r>
              <a:rPr lang="en-US" b="0" i="0" u="sng" dirty="0">
                <a:effectLst/>
                <a:latin typeface="-apple-system"/>
                <a:hlinkClick r:id="rId5">
                  <a:extLst>
                    <a:ext uri="{A12FA001-AC4F-418D-AE19-62706E023703}">
                      <ahyp:hlinkClr xmlns:ahyp="http://schemas.microsoft.com/office/drawing/2018/hyperlinkcolor" val="tx"/>
                    </a:ext>
                  </a:extLst>
                </a:hlinkClick>
              </a:rPr>
              <a:t>Column Documentation</a:t>
            </a:r>
            <a:endParaRPr lang="en-US" b="0" i="0" dirty="0">
              <a:effectLst/>
              <a:latin typeface="-apple-system"/>
            </a:endParaRPr>
          </a:p>
          <a:p>
            <a:pPr marL="514350" indent="-514350" algn="l">
              <a:buFont typeface="+mj-lt"/>
              <a:buAutoNum type="arabicPeriod"/>
            </a:pPr>
            <a:r>
              <a:rPr lang="en-US" b="0" i="0" u="sng" dirty="0">
                <a:effectLst/>
                <a:latin typeface="-apple-system"/>
                <a:hlinkClick r:id="rId6">
                  <a:extLst>
                    <a:ext uri="{A12FA001-AC4F-418D-AE19-62706E023703}">
                      <ahyp:hlinkClr xmlns:ahyp="http://schemas.microsoft.com/office/drawing/2018/hyperlinkcolor" val="tx"/>
                    </a:ext>
                  </a:extLst>
                </a:hlinkClick>
              </a:rPr>
              <a:t>Row Documentation</a:t>
            </a:r>
            <a:endParaRPr lang="en-US" b="0" i="0" dirty="0">
              <a:effectLst/>
              <a:latin typeface="-apple-system"/>
            </a:endParaRPr>
          </a:p>
          <a:p>
            <a:pPr marL="514350" indent="-514350" algn="l">
              <a:buFont typeface="+mj-lt"/>
              <a:buAutoNum type="arabicPeriod"/>
            </a:pPr>
            <a:r>
              <a:rPr lang="en-US" b="0" i="0" u="sng" dirty="0">
                <a:effectLst/>
                <a:latin typeface="-apple-system"/>
                <a:hlinkClick r:id="rId7">
                  <a:extLst>
                    <a:ext uri="{A12FA001-AC4F-418D-AE19-62706E023703}">
                      <ahyp:hlinkClr xmlns:ahyp="http://schemas.microsoft.com/office/drawing/2018/hyperlinkcolor" val="tx"/>
                    </a:ext>
                  </a:extLst>
                </a:hlinkClick>
              </a:rPr>
              <a:t>Tomek's Flutter Layout Cheat Sheet</a:t>
            </a:r>
            <a:endParaRPr lang="en-US" b="0" i="0" dirty="0">
              <a:effectLst/>
              <a:latin typeface="-apple-system"/>
            </a:endParaRPr>
          </a:p>
          <a:p>
            <a:pPr marL="514350" indent="-514350" algn="l">
              <a:buFont typeface="+mj-lt"/>
              <a:buAutoNum type="arabicPeriod"/>
            </a:pPr>
            <a:r>
              <a:rPr lang="en-US" b="0" i="0" u="sng" dirty="0">
                <a:effectLst/>
                <a:latin typeface="-apple-system"/>
                <a:hlinkClick r:id="rId8">
                  <a:extLst>
                    <a:ext uri="{A12FA001-AC4F-418D-AE19-62706E023703}">
                      <ahyp:hlinkClr xmlns:ahyp="http://schemas.microsoft.com/office/drawing/2018/hyperlinkcolor" val="tx"/>
                    </a:ext>
                  </a:extLst>
                </a:hlinkClick>
              </a:rPr>
              <a:t>Download fancy fonts from fonts.google.com</a:t>
            </a:r>
            <a:endParaRPr lang="en-US" b="0" i="0" dirty="0">
              <a:effectLst/>
              <a:latin typeface="-apple-system"/>
            </a:endParaRPr>
          </a:p>
          <a:p>
            <a:pPr marL="514350" indent="-514350" algn="l">
              <a:buFont typeface="+mj-lt"/>
              <a:buAutoNum type="arabicPeriod"/>
            </a:pPr>
            <a:r>
              <a:rPr lang="en-US" b="0" i="0" u="sng" dirty="0">
                <a:effectLst/>
                <a:latin typeface="-apple-system"/>
                <a:hlinkClick r:id="rId9">
                  <a:extLst>
                    <a:ext uri="{A12FA001-AC4F-418D-AE19-62706E023703}">
                      <ahyp:hlinkClr xmlns:ahyp="http://schemas.microsoft.com/office/drawing/2018/hyperlinkcolor" val="tx"/>
                    </a:ext>
                  </a:extLst>
                </a:hlinkClick>
              </a:rPr>
              <a:t>How to add fonts to the pubspec.yaml file</a:t>
            </a:r>
            <a:endParaRPr lang="en-US" b="0" i="0" dirty="0">
              <a:effectLst/>
              <a:latin typeface="-apple-system"/>
            </a:endParaRPr>
          </a:p>
          <a:p>
            <a:endParaRPr lang="en-US" dirty="0"/>
          </a:p>
        </p:txBody>
      </p:sp>
      <p:sp>
        <p:nvSpPr>
          <p:cNvPr id="4" name="Content Placeholder 3">
            <a:extLst>
              <a:ext uri="{FF2B5EF4-FFF2-40B4-BE49-F238E27FC236}">
                <a16:creationId xmlns:a16="http://schemas.microsoft.com/office/drawing/2014/main" id="{1F972B83-CBA9-CE0B-D484-9472FB32D401}"/>
              </a:ext>
            </a:extLst>
          </p:cNvPr>
          <p:cNvSpPr>
            <a:spLocks noGrp="1"/>
          </p:cNvSpPr>
          <p:nvPr>
            <p:ph sz="half" idx="2"/>
          </p:nvPr>
        </p:nvSpPr>
        <p:spPr/>
        <p:txBody>
          <a:bodyPr>
            <a:normAutofit fontScale="92500" lnSpcReduction="10000"/>
          </a:bodyPr>
          <a:lstStyle/>
          <a:p>
            <a:pPr marL="514350" indent="-514350" algn="l">
              <a:buFont typeface="+mj-lt"/>
              <a:buAutoNum type="arabicPeriod" startAt="9"/>
            </a:pPr>
            <a:r>
              <a:rPr lang="en-US" b="0" i="0" u="sng" dirty="0">
                <a:effectLst/>
                <a:latin typeface="-apple-system"/>
                <a:hlinkClick r:id="rId10">
                  <a:extLst>
                    <a:ext uri="{A12FA001-AC4F-418D-AE19-62706E023703}">
                      <ahyp:hlinkClr xmlns:ahyp="http://schemas.microsoft.com/office/drawing/2018/hyperlinkcolor" val="tx"/>
                    </a:ext>
                  </a:extLst>
                </a:hlinkClick>
              </a:rPr>
              <a:t>The Icons Class</a:t>
            </a:r>
            <a:endParaRPr lang="en-US" b="0" i="0" dirty="0">
              <a:effectLst/>
              <a:latin typeface="-apple-system"/>
            </a:endParaRPr>
          </a:p>
          <a:p>
            <a:pPr marL="514350" indent="-514350" algn="l">
              <a:buFont typeface="+mj-lt"/>
              <a:buAutoNum type="arabicPeriod" startAt="9"/>
            </a:pPr>
            <a:r>
              <a:rPr lang="en-US" b="0" i="0" u="sng" dirty="0">
                <a:effectLst/>
                <a:latin typeface="-apple-system"/>
                <a:hlinkClick r:id="rId11">
                  <a:extLst>
                    <a:ext uri="{A12FA001-AC4F-418D-AE19-62706E023703}">
                      <ahyp:hlinkClr xmlns:ahyp="http://schemas.microsoft.com/office/drawing/2018/hyperlinkcolor" val="tx"/>
                    </a:ext>
                  </a:extLst>
                </a:hlinkClick>
              </a:rPr>
              <a:t>Material Design Icons</a:t>
            </a:r>
            <a:endParaRPr lang="en-US" b="0" i="0" dirty="0">
              <a:effectLst/>
              <a:latin typeface="-apple-system"/>
            </a:endParaRPr>
          </a:p>
          <a:p>
            <a:pPr marL="514350" indent="-514350" algn="l">
              <a:buFont typeface="+mj-lt"/>
              <a:buAutoNum type="arabicPeriod" startAt="9"/>
            </a:pPr>
            <a:r>
              <a:rPr lang="en-US" b="0" i="0" u="sng" dirty="0">
                <a:effectLst/>
                <a:latin typeface="-apple-system"/>
                <a:hlinkClick r:id="rId12">
                  <a:extLst>
                    <a:ext uri="{A12FA001-AC4F-418D-AE19-62706E023703}">
                      <ahyp:hlinkClr xmlns:ahyp="http://schemas.microsoft.com/office/drawing/2018/hyperlinkcolor" val="tx"/>
                    </a:ext>
                  </a:extLst>
                </a:hlinkClick>
              </a:rPr>
              <a:t>Icons on materialpalette.com</a:t>
            </a:r>
            <a:endParaRPr lang="en-US" b="0" i="0" dirty="0">
              <a:effectLst/>
              <a:latin typeface="-apple-system"/>
            </a:endParaRPr>
          </a:p>
          <a:p>
            <a:pPr marL="514350" indent="-514350" algn="l">
              <a:buFont typeface="+mj-lt"/>
              <a:buAutoNum type="arabicPeriod" startAt="9"/>
            </a:pPr>
            <a:r>
              <a:rPr lang="en-US" b="0" i="0" u="sng" dirty="0">
                <a:effectLst/>
                <a:latin typeface="-apple-system"/>
                <a:hlinkClick r:id="rId13">
                  <a:extLst>
                    <a:ext uri="{A12FA001-AC4F-418D-AE19-62706E023703}">
                      <ahyp:hlinkClr xmlns:ahyp="http://schemas.microsoft.com/office/drawing/2018/hyperlinkcolor" val="tx"/>
                    </a:ext>
                  </a:extLst>
                </a:hlinkClick>
              </a:rPr>
              <a:t>Card Class Documentation</a:t>
            </a:r>
            <a:endParaRPr lang="en-US" b="0" i="0" dirty="0">
              <a:effectLst/>
              <a:latin typeface="-apple-system"/>
            </a:endParaRPr>
          </a:p>
          <a:p>
            <a:pPr marL="514350" indent="-514350" algn="l">
              <a:buFont typeface="+mj-lt"/>
              <a:buAutoNum type="arabicPeriod" startAt="9"/>
            </a:pPr>
            <a:r>
              <a:rPr lang="en-US" b="0" i="0" u="sng" dirty="0">
                <a:effectLst/>
                <a:latin typeface="-apple-system"/>
                <a:hlinkClick r:id="rId14">
                  <a:extLst>
                    <a:ext uri="{A12FA001-AC4F-418D-AE19-62706E023703}">
                      <ahyp:hlinkClr xmlns:ahyp="http://schemas.microsoft.com/office/drawing/2018/hyperlinkcolor" val="tx"/>
                    </a:ext>
                  </a:extLst>
                </a:hlinkClick>
              </a:rPr>
              <a:t>The Padding Class</a:t>
            </a:r>
            <a:endParaRPr lang="en-US" b="0" i="0" dirty="0">
              <a:effectLst/>
              <a:latin typeface="-apple-system"/>
            </a:endParaRPr>
          </a:p>
          <a:p>
            <a:pPr marL="514350" indent="-514350" algn="l">
              <a:buFont typeface="+mj-lt"/>
              <a:buAutoNum type="arabicPeriod" startAt="9"/>
            </a:pPr>
            <a:r>
              <a:rPr lang="en-US" b="0" i="0" u="sng" dirty="0">
                <a:effectLst/>
                <a:latin typeface="-apple-system"/>
                <a:hlinkClick r:id="rId15">
                  <a:extLst>
                    <a:ext uri="{A12FA001-AC4F-418D-AE19-62706E023703}">
                      <ahyp:hlinkClr xmlns:ahyp="http://schemas.microsoft.com/office/drawing/2018/hyperlinkcolor" val="tx"/>
                    </a:ext>
                  </a:extLst>
                </a:hlinkClick>
              </a:rPr>
              <a:t>The ListTile Class</a:t>
            </a:r>
            <a:endParaRPr lang="en-US" b="0" i="0" dirty="0">
              <a:effectLst/>
              <a:latin typeface="-apple-system"/>
            </a:endParaRPr>
          </a:p>
          <a:p>
            <a:pPr marL="514350" indent="-514350" algn="l">
              <a:buFont typeface="+mj-lt"/>
              <a:buAutoNum type="arabicPeriod" startAt="9"/>
            </a:pPr>
            <a:r>
              <a:rPr lang="en-US" b="0" i="0" u="sng" dirty="0">
                <a:effectLst/>
                <a:latin typeface="-apple-system"/>
                <a:hlinkClick r:id="rId16">
                  <a:extLst>
                    <a:ext uri="{A12FA001-AC4F-418D-AE19-62706E023703}">
                      <ahyp:hlinkClr xmlns:ahyp="http://schemas.microsoft.com/office/drawing/2018/hyperlinkcolor" val="tx"/>
                    </a:ext>
                  </a:extLst>
                </a:hlinkClick>
              </a:rPr>
              <a:t>Flutter's Horizontal Rule - The Divider</a:t>
            </a:r>
            <a:endParaRPr lang="en-US" b="0" i="0" dirty="0">
              <a:effectLst/>
              <a:latin typeface="-apple-system"/>
            </a:endParaRPr>
          </a:p>
          <a:p>
            <a:pPr marL="514350" indent="-514350" algn="l">
              <a:buFont typeface="+mj-lt"/>
              <a:buAutoNum type="arabicPeriod" startAt="9"/>
            </a:pPr>
            <a:r>
              <a:rPr lang="en-US" b="0" i="0" u="sng" dirty="0">
                <a:effectLst/>
                <a:latin typeface="-apple-system"/>
              </a:rPr>
              <a:t>MiCard Completed Project</a:t>
            </a:r>
          </a:p>
          <a:p>
            <a:pPr marL="514350" indent="-514350" algn="l">
              <a:buFont typeface="+mj-lt"/>
              <a:buAutoNum type="arabicPeriod" startAt="9"/>
            </a:pPr>
            <a:r>
              <a:rPr lang="en-US" u="sng" dirty="0">
                <a:latin typeface="-apple-system"/>
                <a:hlinkClick r:id="rId12">
                  <a:extLst>
                    <a:ext uri="{A12FA001-AC4F-418D-AE19-62706E023703}">
                      <ahyp:hlinkClr xmlns:ahyp="http://schemas.microsoft.com/office/drawing/2018/hyperlinkcolor" val="tx"/>
                    </a:ext>
                  </a:extLst>
                </a:hlinkClick>
              </a:rPr>
              <a:t>Material Color Palette</a:t>
            </a:r>
            <a:endParaRPr lang="en-US" b="0" i="0" u="sng" dirty="0">
              <a:effectLst/>
              <a:latin typeface="-apple-system"/>
            </a:endParaRPr>
          </a:p>
          <a:p>
            <a:endParaRPr lang="en-US" dirty="0"/>
          </a:p>
        </p:txBody>
      </p:sp>
    </p:spTree>
    <p:extLst>
      <p:ext uri="{BB962C8B-B14F-4D97-AF65-F5344CB8AC3E}">
        <p14:creationId xmlns:p14="http://schemas.microsoft.com/office/powerpoint/2010/main" val="184448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768</TotalTime>
  <Words>1457</Words>
  <Application>Microsoft Macintosh PowerPoint</Application>
  <PresentationFormat>Widescreen</PresentationFormat>
  <Paragraphs>104</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-apple-system</vt:lpstr>
      <vt:lpstr>Aptos</vt:lpstr>
      <vt:lpstr>Aptos Display</vt:lpstr>
      <vt:lpstr>Arial</vt:lpstr>
      <vt:lpstr>inherit</vt:lpstr>
      <vt:lpstr>Metropolis</vt:lpstr>
      <vt:lpstr>Office Theme</vt:lpstr>
      <vt:lpstr>MiCard   How to Build Beautiful UIs with Flutter Widgets</vt:lpstr>
      <vt:lpstr>DESIGN YOUR APP WITH FLUTTER LAYOUT WIDGETS</vt:lpstr>
      <vt:lpstr>Topics in this Lecture</vt:lpstr>
      <vt:lpstr>  Hot Reload &amp; Hot Restart - Flutter Power Tools </vt:lpstr>
      <vt:lpstr>  Hot Reload &amp; Hot Restart - Flutter Power Tools </vt:lpstr>
      <vt:lpstr>  How to Use Container Widgets</vt:lpstr>
      <vt:lpstr>  How to Use Container Widgets</vt:lpstr>
      <vt:lpstr>  How to Use Container Widgets</vt:lpstr>
      <vt:lpstr>How to Use Column and Row Widgets for Layout</vt:lpstr>
      <vt:lpstr>How to Use Column and Row Widgets for Layout</vt:lpstr>
      <vt:lpstr>  Flutter Layouts Challenge</vt:lpstr>
      <vt:lpstr>  5. Tapping into Widget Properties</vt:lpstr>
      <vt:lpstr>  5. Tapping into Widget Properties anatomy</vt:lpstr>
      <vt:lpstr>6. Incorporating Custom Fonts in Your Flutter App</vt:lpstr>
      <vt:lpstr>8. Flutter Card &amp; ListTile Widget</vt:lpstr>
      <vt:lpstr>Final Touch Up</vt:lpstr>
      <vt:lpstr>RESOURCES - How to Build Beautiful UIs with Flutter Widgets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Mustafa Bamboat</dc:creator>
  <cp:lastModifiedBy>Mustafa Bamboat</cp:lastModifiedBy>
  <cp:revision>76</cp:revision>
  <dcterms:created xsi:type="dcterms:W3CDTF">2026-02-17T22:45:36Z</dcterms:created>
  <dcterms:modified xsi:type="dcterms:W3CDTF">2026-02-21T00:21:39Z</dcterms:modified>
</cp:coreProperties>
</file>