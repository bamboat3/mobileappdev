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81" r:id="rId4"/>
    <p:sldId id="311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C0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1841"/>
    <p:restoredTop sz="91878"/>
  </p:normalViewPr>
  <p:slideViewPr>
    <p:cSldViewPr snapToGrid="0">
      <p:cViewPr varScale="1">
        <p:scale>
          <a:sx n="82" d="100"/>
          <a:sy n="82" d="100"/>
        </p:scale>
        <p:origin x="168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83ACF-19D0-E24D-8154-BABCE14F690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A1CA5-E69A-9B4C-9163-04C60EE9D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42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20B54-BF3C-35A0-1008-24A2DFE7B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FD61E-FEC0-3BAF-C353-D84FC457FE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6579F-6F30-2AE8-66C8-079836C84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BD6CE-4DB7-D444-8297-1617B8BAEA4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E3191-0B4C-F49F-5693-1D6700DBE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39600-0D8D-CBB3-A5F1-35B8C1069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BAC2-713E-664C-BF68-344238DFA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772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CCEB9-8A8C-433C-7DE2-5E14A4AE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9BADD-742C-5D68-6A94-E8231081D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F3195-54A9-1DA1-9861-5A5ABBB1E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BD6CE-4DB7-D444-8297-1617B8BAEA4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00BE1-A484-421F-D8D7-7A3FA0679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CED8E-9045-23A8-143B-174FA56ED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BAC2-713E-664C-BF68-344238DFA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423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90D5B-3881-EB5A-EDC3-072D640B2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80F9D-F58F-7763-A71C-D62C89215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68AA3-5557-D0B7-587D-F2161F473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BD6CE-4DB7-D444-8297-1617B8BAEA4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9AA12-3B46-51C0-2801-9C090CE46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6FB7A-3AF9-E152-CD8E-7C5B6C5E5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BAC2-713E-664C-BF68-344238DFA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063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E7EA1-C74B-3154-CEF6-2763DFEC5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261C4-7CDA-76B3-91F5-93AA9CC576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ACAB1D-8ED3-B6E7-1BF1-35634A0DD5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81E8C1-006B-9654-73FC-08BF23DA6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BD6CE-4DB7-D444-8297-1617B8BAEA4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F076A-AFB1-836D-1570-B42523237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3FBE42-9B3E-FCF8-C385-B04CEAECA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BAC2-713E-664C-BF68-344238DFA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554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DA82D-D30C-9B35-DBDC-AAFFECF11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E3BB1-1C05-67D4-DF85-C5937E929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30F608-B3D2-0F85-67F1-DB2CD86C9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423584-F97D-ACE4-6431-736FA85D82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38BFC3-73FF-F9D6-E4F6-62ABC7B666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730605-0E49-7438-7D02-8F440B64F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BD6CE-4DB7-D444-8297-1617B8BAEA4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ACBC7A-CC42-311A-5DEE-2918E481C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599BAB-2378-1718-66A1-78BA305BB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BAC2-713E-664C-BF68-344238DFA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54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9109A-8885-34E0-00BE-235B89C5F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7A7299-8133-8651-F8AA-F64A6D397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BD6CE-4DB7-D444-8297-1617B8BAEA4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0B66F6-68C2-8923-84D2-D73C89D70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4D63F-04AA-0B65-58C4-6A780252A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BAC2-713E-664C-BF68-344238DFA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76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6F56FF-723D-C8C7-D659-A650ED938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BD6CE-4DB7-D444-8297-1617B8BAEA4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5CF9D4-6D4C-9FC6-5465-FDB007D6D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4FB93-4885-AC65-880C-CA88124CD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BAC2-713E-664C-BF68-344238DFA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339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6E3F0-2D62-C82E-C2A8-CFB341F84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54CD3-C1D8-AE54-ED05-E2075A6A6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B5F72B-E343-86DD-057D-C76DE86D7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DCB89-6AB7-97BA-2CC3-50C3FB533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BD6CE-4DB7-D444-8297-1617B8BAEA4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45142-DEC9-54E0-72A7-0ED03EAE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CB392A-6427-D85A-B895-47794856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BAC2-713E-664C-BF68-344238DFA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73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A976A-F4D0-16B3-2134-C868E16EC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694E0A-0AE0-9D0E-A6C9-BD70DB78E5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FC244-CD72-DE6A-0612-91D3E1CBF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656F6-A67F-A3CB-5B8D-3833E8389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BD6CE-4DB7-D444-8297-1617B8BAEA4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5D1E1-B3C7-85BC-E554-66F2781AD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03AA3-675A-64A4-63D4-ADDB3D9E1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BAC2-713E-664C-BF68-344238DFA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853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BEC05-02C0-643D-6278-B5852F8D0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89AD3A-F5B9-1CBF-D2A1-DB049A15B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C06CD-3217-45C6-7538-744B0BAFC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BD6CE-4DB7-D444-8297-1617B8BAEA4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44ABA-22D7-D94E-4D76-A24629B52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5A0EB-9DA8-D2E1-15A4-E653B35F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BAC2-713E-664C-BF68-344238DFA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99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58E7AC-AF56-EB4A-7457-44D360CE2F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144B00-E3FA-5798-BB03-0489FF46E4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C7411-D94E-AADE-FEF9-5F7334F63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BD6CE-4DB7-D444-8297-1617B8BAEA4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E9DD5-BBDE-3522-6506-A75FFE38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308D5-7B0B-223B-C099-6AED107FF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BAC2-713E-664C-BF68-344238DFA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70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3C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338741-EC01-C7A8-1E75-B7DDD91F2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F00EC-FA55-A511-ED76-FDCA8E826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FCD0A-EF9E-3090-A75B-6C1A988B9A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7BD6CE-4DB7-D444-8297-1617B8BAEA4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BC5E2-8A81-F747-C047-E0EFEDAB9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D41C4-33B0-EBD5-5A35-467FB922B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75BAC2-713E-664C-BF68-344238DFA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128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amboat3/mobileappdev/tree/main/code_lecture_4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ub.dev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freesound.org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EB91F-4E4A-7F4B-45E5-F33FD3964E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effectLst/>
                <a:latin typeface="Metropolis"/>
              </a:rPr>
              <a:t>Xylophone</a:t>
            </a:r>
            <a:br>
              <a:rPr lang="en-US" b="1" i="0" dirty="0">
                <a:effectLst/>
                <a:latin typeface="Metropolis"/>
              </a:rPr>
            </a:br>
            <a:r>
              <a:rPr lang="en-US" b="1" i="0" dirty="0">
                <a:effectLst/>
                <a:latin typeface="Metropolis"/>
              </a:rPr>
              <a:t>Using Flutter &amp; Dart Packages to Speed up Development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1C9BE6-888C-9E9E-E3B9-C9A63E6DC1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066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DA52E2-235F-7D13-4199-14F16A8D57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67211" y="1746311"/>
            <a:ext cx="4690696" cy="37771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DFE4BE-4AB0-EF42-1364-AA3BF3767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Diving Deeper into Dart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28090-CEC2-3099-AA72-062BFBB6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790456"/>
            <a:ext cx="6312876" cy="4351338"/>
          </a:xfrm>
        </p:spPr>
        <p:txBody>
          <a:bodyPr/>
          <a:lstStyle/>
          <a:p>
            <a:r>
              <a:rPr lang="en-US" dirty="0"/>
              <a:t>We will build an app with far more functionality.</a:t>
            </a:r>
          </a:p>
          <a:p>
            <a:r>
              <a:rPr lang="en-US" dirty="0"/>
              <a:t>We will learn “How to use open source Flutter Packages”.</a:t>
            </a:r>
          </a:p>
          <a:p>
            <a:r>
              <a:rPr lang="en-US" dirty="0"/>
              <a:t>We build a music app which play a real song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github.com</a:t>
            </a:r>
            <a:r>
              <a:rPr lang="en-US" dirty="0">
                <a:hlinkClick r:id="rId3"/>
              </a:rPr>
              <a:t>/bamboat3/</a:t>
            </a:r>
            <a:r>
              <a:rPr lang="en-US" dirty="0" err="1">
                <a:hlinkClick r:id="rId3"/>
              </a:rPr>
              <a:t>mobileappdev</a:t>
            </a:r>
            <a:r>
              <a:rPr lang="en-US" dirty="0">
                <a:hlinkClick r:id="rId3"/>
              </a:rPr>
              <a:t>/tree/main/code_lecture_4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787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8BF03-E156-BEEA-4463-099DB3F43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in this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65359-5D2D-F88B-3D20-E474DFAC1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>
                <a:effectLst/>
                <a:latin typeface="inherit"/>
              </a:rPr>
              <a:t>Xylophone – Get the ingredient for that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effectLst/>
                <a:latin typeface="inherit"/>
              </a:rPr>
              <a:t>What are Flutter &amp; Dart Packages?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i="0" dirty="0">
                <a:latin typeface="inherit"/>
              </a:rPr>
              <a:t>How to Play Sound Across Platforms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inherit"/>
              </a:rPr>
              <a:t>How to Play Multiple Sounds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inherit"/>
              </a:rPr>
              <a:t>Updating the UI of Our App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i="0" dirty="0">
                <a:latin typeface="inherit"/>
              </a:rPr>
              <a:t>Refactor and Clean Up our Code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i="0" dirty="0">
                <a:latin typeface="inherit"/>
              </a:rPr>
              <a:t>Class Ta</a:t>
            </a:r>
            <a:r>
              <a:rPr lang="en-US" b="1" dirty="0">
                <a:latin typeface="inherit"/>
              </a:rPr>
              <a:t>sk – 5</a:t>
            </a:r>
          </a:p>
          <a:p>
            <a:pPr marL="514350" indent="-514350">
              <a:buFont typeface="+mj-lt"/>
              <a:buAutoNum type="arabicPeriod"/>
            </a:pPr>
            <a:endParaRPr lang="en-US" b="0" i="0" dirty="0">
              <a:solidFill>
                <a:srgbClr val="212338"/>
              </a:solidFill>
              <a:effectLst/>
              <a:latin typeface="Metropolis"/>
            </a:endParaRPr>
          </a:p>
        </p:txBody>
      </p:sp>
    </p:spTree>
    <p:extLst>
      <p:ext uri="{BB962C8B-B14F-4D97-AF65-F5344CB8AC3E}">
        <p14:creationId xmlns:p14="http://schemas.microsoft.com/office/powerpoint/2010/main" val="2859792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C6AFD-D17F-427B-ABD3-8153CAD68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en-US" b="1" dirty="0">
                <a:effectLst/>
                <a:latin typeface="inherit"/>
              </a:rPr>
              <a:t>Xylophone – Get the ingredient for that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FBEE3-D485-132E-BA9F-287ECD29C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Download the </a:t>
            </a:r>
            <a:r>
              <a:rPr lang="en-US" dirty="0" err="1"/>
              <a:t>assets.zip</a:t>
            </a:r>
            <a:r>
              <a:rPr lang="en-US" dirty="0"/>
              <a:t> from the GitHub</a:t>
            </a:r>
          </a:p>
          <a:p>
            <a:r>
              <a:rPr lang="en-US" dirty="0"/>
              <a:t>Create Flutter Project named it as </a:t>
            </a:r>
            <a:r>
              <a:rPr lang="en-US" dirty="0" err="1"/>
              <a:t>xylophone_project</a:t>
            </a:r>
            <a:endParaRPr lang="en-US" dirty="0"/>
          </a:p>
          <a:p>
            <a:r>
              <a:rPr lang="en-US" dirty="0"/>
              <a:t>Create Directory named it as “assets”</a:t>
            </a:r>
          </a:p>
          <a:p>
            <a:r>
              <a:rPr lang="en-US" dirty="0"/>
              <a:t>Update the </a:t>
            </a:r>
            <a:r>
              <a:rPr lang="en-US" dirty="0" err="1"/>
              <a:t>pubspec.yaml</a:t>
            </a:r>
            <a:r>
              <a:rPr lang="en-US" dirty="0"/>
              <a:t>; our project required local assets, so declare</a:t>
            </a:r>
          </a:p>
          <a:p>
            <a:pPr marL="0" indent="0">
              <a:buNone/>
            </a:pPr>
            <a:r>
              <a:rPr lang="en-US" dirty="0"/>
              <a:t>	assets:</a:t>
            </a:r>
          </a:p>
          <a:p>
            <a:pPr marL="0" indent="0">
              <a:buNone/>
            </a:pPr>
            <a:r>
              <a:rPr lang="en-US" dirty="0"/>
              <a:t>	  - assets/</a:t>
            </a:r>
          </a:p>
          <a:p>
            <a:r>
              <a:rPr lang="en-US" dirty="0"/>
              <a:t>Copy the downloaded .wav files in it</a:t>
            </a:r>
          </a:p>
          <a:p>
            <a:r>
              <a:rPr lang="en-US" dirty="0"/>
              <a:t>Change the App Icon as we did in the previous lecture – 3, app icon available in the </a:t>
            </a:r>
            <a:r>
              <a:rPr lang="en-US" dirty="0" err="1"/>
              <a:t>assets.zip</a:t>
            </a:r>
            <a:endParaRPr lang="en-US" dirty="0"/>
          </a:p>
          <a:p>
            <a:r>
              <a:rPr lang="en-US" dirty="0"/>
              <a:t>Clear the Flutter Template and create </a:t>
            </a:r>
            <a:r>
              <a:rPr lang="en-US" dirty="0" err="1"/>
              <a:t>MaterialApp</a:t>
            </a:r>
            <a:r>
              <a:rPr lang="en-US" dirty="0"/>
              <a:t>-&gt;Scaffold-&gt;</a:t>
            </a:r>
            <a:r>
              <a:rPr lang="en-US" dirty="0" err="1"/>
              <a:t>SafeArea</a:t>
            </a:r>
            <a:r>
              <a:rPr lang="en-US" dirty="0"/>
              <a:t>-&gt;Container only.</a:t>
            </a:r>
          </a:p>
          <a:p>
            <a:r>
              <a:rPr lang="en-US" dirty="0"/>
              <a:t>Run the Project</a:t>
            </a:r>
          </a:p>
        </p:txBody>
      </p:sp>
    </p:spTree>
    <p:extLst>
      <p:ext uri="{BB962C8B-B14F-4D97-AF65-F5344CB8AC3E}">
        <p14:creationId xmlns:p14="http://schemas.microsoft.com/office/powerpoint/2010/main" val="378793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368B5-08EE-82F0-76E6-1965F09E4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 startAt="2"/>
            </a:pPr>
            <a:r>
              <a:rPr lang="en-US" b="1" dirty="0">
                <a:effectLst/>
                <a:latin typeface="inherit"/>
              </a:rPr>
              <a:t>What are Flutter &amp; Dart Packages?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1E727-BD44-D332-E4F7-0A1190F8C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order to play sound in our app both iOS and Android, we use flutter package.</a:t>
            </a:r>
          </a:p>
          <a:p>
            <a:r>
              <a:rPr lang="en-US" dirty="0"/>
              <a:t>Flutter Packages are open source libraries of code that other people have created which you can incorporate into your project with minimal efforts.</a:t>
            </a:r>
          </a:p>
          <a:p>
            <a:r>
              <a:rPr lang="en-US" dirty="0"/>
              <a:t>Visit </a:t>
            </a:r>
            <a:r>
              <a:rPr lang="en-US" dirty="0">
                <a:hlinkClick r:id="rId2"/>
              </a:rPr>
              <a:t>https://pub.dev/</a:t>
            </a:r>
            <a:r>
              <a:rPr lang="en-US" dirty="0"/>
              <a:t> , search for suitable package for our project</a:t>
            </a:r>
          </a:p>
          <a:p>
            <a:r>
              <a:rPr lang="en-US" dirty="0"/>
              <a:t>Search package e.g. </a:t>
            </a:r>
            <a:r>
              <a:rPr lang="en-US" dirty="0" err="1"/>
              <a:t>english</a:t>
            </a:r>
            <a:r>
              <a:rPr lang="en-US" dirty="0"/>
              <a:t> words, you might get multiple results choose the one with the highest scores. The highest score package means package is most robust and best suited</a:t>
            </a:r>
          </a:p>
        </p:txBody>
      </p:sp>
    </p:spTree>
    <p:extLst>
      <p:ext uri="{BB962C8B-B14F-4D97-AF65-F5344CB8AC3E}">
        <p14:creationId xmlns:p14="http://schemas.microsoft.com/office/powerpoint/2010/main" val="3850614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D1376-338B-310D-D992-052A7ED7F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B0049-33AA-78F7-4FE4-EB8226982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 startAt="2"/>
            </a:pPr>
            <a:r>
              <a:rPr lang="en-US" b="1" dirty="0">
                <a:effectLst/>
                <a:latin typeface="inherit"/>
              </a:rPr>
              <a:t>What are Flutter &amp; Dart Packages?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53CD3-00F9-528E-B22E-99C15DB8B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81750" cy="4351338"/>
          </a:xfrm>
        </p:spPr>
        <p:txBody>
          <a:bodyPr/>
          <a:lstStyle/>
          <a:p>
            <a:r>
              <a:rPr lang="en-US" dirty="0"/>
              <a:t>In our case we search a package which plays sound</a:t>
            </a:r>
          </a:p>
          <a:p>
            <a:r>
              <a:rPr lang="en-US" dirty="0"/>
              <a:t>These packages are called dependencies in the Flutter Project; and we declare the packages under the </a:t>
            </a:r>
            <a:r>
              <a:rPr lang="en-US" dirty="0" err="1"/>
              <a:t>pubspec.ymal</a:t>
            </a:r>
            <a:r>
              <a:rPr lang="en-US" dirty="0"/>
              <a:t> under the heading dependencies</a:t>
            </a:r>
          </a:p>
          <a:p>
            <a:r>
              <a:rPr lang="en-US" dirty="0"/>
              <a:t>By default flutter have these dependencies as shown in the picture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8DBF04-1326-1AA7-BC64-94DF34F99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949" y="1690688"/>
            <a:ext cx="4972051" cy="309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875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FCE7-A8E9-E35E-C56A-DD282F6E4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1D6F-CB81-9104-75A0-B8B2568DB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 startAt="2"/>
            </a:pPr>
            <a:r>
              <a:rPr lang="en-US" b="1" dirty="0">
                <a:effectLst/>
                <a:latin typeface="inherit"/>
              </a:rPr>
              <a:t>What are Flutter &amp; Dart Packages?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A12FC-8922-1D83-F589-BD9F61427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91250" cy="4667250"/>
          </a:xfrm>
        </p:spPr>
        <p:txBody>
          <a:bodyPr>
            <a:normAutofit/>
          </a:bodyPr>
          <a:lstStyle/>
          <a:p>
            <a:r>
              <a:rPr lang="en-US" dirty="0"/>
              <a:t>Think like a Lego blocks, you created a house, now you need tree in your garden</a:t>
            </a:r>
          </a:p>
          <a:p>
            <a:r>
              <a:rPr lang="en-US" dirty="0"/>
              <a:t>Now you could use the already build components such tree, doors, widows etc., which helps you to build house easier</a:t>
            </a:r>
          </a:p>
          <a:p>
            <a:r>
              <a:rPr lang="en-US" dirty="0"/>
              <a:t>Conclusion: Packages are essentially a bunch of code that somebody else wrote to achieve a specific goal.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F51B48-9A28-7867-0960-C84B4231B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300" y="1257300"/>
            <a:ext cx="4305300" cy="18986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2AE043-1745-785B-A90B-1DCDD16C8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300" y="3486150"/>
            <a:ext cx="4305300" cy="321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337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42810-BE9B-BDC8-241B-806BA97E7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 startAt="3"/>
            </a:pPr>
            <a:r>
              <a:rPr lang="en-US" dirty="0"/>
              <a:t>How to Play Sound Across Platforms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F33C9-EB8E-7DD8-5CC0-72C9C524A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 package “play audio file”, choose the higher score</a:t>
            </a:r>
          </a:p>
          <a:p>
            <a:r>
              <a:rPr lang="en-US" dirty="0"/>
              <a:t>E.g. </a:t>
            </a:r>
            <a:r>
              <a:rPr lang="en-US" dirty="0" err="1"/>
              <a:t>just_audio</a:t>
            </a:r>
            <a:r>
              <a:rPr lang="en-US" dirty="0"/>
              <a:t>: ^0.10.5 has highest score </a:t>
            </a:r>
          </a:p>
          <a:p>
            <a:r>
              <a:rPr lang="en-US" dirty="0"/>
              <a:t>Include the package in the </a:t>
            </a:r>
            <a:r>
              <a:rPr lang="en-US" dirty="0" err="1"/>
              <a:t>pubspec.yaml</a:t>
            </a:r>
            <a:r>
              <a:rPr lang="en-US" dirty="0"/>
              <a:t> under dependencies</a:t>
            </a:r>
          </a:p>
          <a:p>
            <a:r>
              <a:rPr lang="en-US" dirty="0"/>
              <a:t>Import the library in the </a:t>
            </a:r>
            <a:r>
              <a:rPr lang="en-US" dirty="0" err="1"/>
              <a:t>main.dart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import '</a:t>
            </a:r>
            <a:r>
              <a:rPr lang="en-US" dirty="0" err="1"/>
              <a:t>package:just_audio</a:t>
            </a:r>
            <a:r>
              <a:rPr lang="en-US" dirty="0"/>
              <a:t>/</a:t>
            </a:r>
            <a:r>
              <a:rPr lang="en-US" dirty="0" err="1"/>
              <a:t>just_audio.dart</a:t>
            </a:r>
            <a:r>
              <a:rPr lang="en-US" dirty="0"/>
              <a:t>’;</a:t>
            </a:r>
          </a:p>
          <a:p>
            <a:pPr marL="0" indent="0">
              <a:buNone/>
            </a:pPr>
            <a:r>
              <a:rPr lang="en-US" dirty="0"/>
              <a:t>Get help from the ReadMe available on the package doc. </a:t>
            </a:r>
          </a:p>
          <a:p>
            <a:r>
              <a:rPr lang="en-US" dirty="0"/>
              <a:t>After including the package stop the running App and re-start it. Hot-Reload or Hot-Restart not include the package</a:t>
            </a:r>
          </a:p>
        </p:txBody>
      </p:sp>
    </p:spTree>
    <p:extLst>
      <p:ext uri="{BB962C8B-B14F-4D97-AF65-F5344CB8AC3E}">
        <p14:creationId xmlns:p14="http://schemas.microsoft.com/office/powerpoint/2010/main" val="3782177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EBEC2-472D-E56A-3731-FB8EE12ED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D82D8-F712-4912-3666-269EBCDC8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 startAt="3"/>
            </a:pPr>
            <a:r>
              <a:rPr lang="en-US" dirty="0"/>
              <a:t>How to Play Sound Across Platforms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50CA0-9BC3-99D8-31CC-F03625959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Elevated button and call the </a:t>
            </a:r>
            <a:r>
              <a:rPr lang="en-US" dirty="0" err="1"/>
              <a:t>player.setAsset</a:t>
            </a:r>
            <a:r>
              <a:rPr lang="en-US" dirty="0"/>
              <a:t> on the </a:t>
            </a:r>
            <a:r>
              <a:rPr lang="en-US" dirty="0" err="1"/>
              <a:t>onPressed</a:t>
            </a:r>
            <a:r>
              <a:rPr lang="en-US" dirty="0"/>
              <a:t> function</a:t>
            </a:r>
          </a:p>
          <a:p>
            <a:r>
              <a:rPr lang="en-US" dirty="0"/>
              <a:t>Center it and do styling as you like</a:t>
            </a:r>
          </a:p>
          <a:p>
            <a:r>
              <a:rPr lang="en-US" dirty="0"/>
              <a:t>first declare </a:t>
            </a:r>
            <a:r>
              <a:rPr lang="en-US" dirty="0" err="1"/>
              <a:t>AudioPlay</a:t>
            </a:r>
            <a:r>
              <a:rPr lang="en-US" dirty="0"/>
              <a:t> instance, in the class.</a:t>
            </a:r>
          </a:p>
          <a:p>
            <a:pPr marL="457200" lvl="1" indent="0">
              <a:buNone/>
            </a:pPr>
            <a:r>
              <a:rPr lang="en-US" dirty="0"/>
              <a:t>	final player = </a:t>
            </a:r>
            <a:r>
              <a:rPr lang="en-US" dirty="0" err="1"/>
              <a:t>AudioPlayer</a:t>
            </a:r>
            <a:r>
              <a:rPr lang="en-US" dirty="0"/>
              <a:t>();</a:t>
            </a:r>
          </a:p>
          <a:p>
            <a:pPr marL="457200" lvl="1" indent="0">
              <a:buNone/>
            </a:pPr>
            <a:endParaRPr lang="en-US" dirty="0">
              <a:solidFill>
                <a:srgbClr val="000000"/>
              </a:solidFill>
              <a:effectLst/>
            </a:endParaRPr>
          </a:p>
          <a:p>
            <a:pPr marL="457200" lvl="1" indent="0">
              <a:buNone/>
            </a:pPr>
            <a:r>
              <a:rPr lang="en-US" dirty="0" err="1">
                <a:solidFill>
                  <a:srgbClr val="000000"/>
                </a:solidFill>
                <a:effectLst/>
              </a:rPr>
              <a:t>onPressed</a:t>
            </a:r>
            <a:r>
              <a:rPr lang="en-US" dirty="0">
                <a:solidFill>
                  <a:srgbClr val="080808"/>
                </a:solidFill>
                <a:effectLst/>
              </a:rPr>
              <a:t>: () {</a:t>
            </a:r>
            <a:br>
              <a:rPr lang="en-US" dirty="0">
                <a:solidFill>
                  <a:srgbClr val="080808"/>
                </a:solidFill>
                <a:effectLst/>
              </a:rPr>
            </a:br>
            <a:r>
              <a:rPr lang="en-US" dirty="0">
                <a:solidFill>
                  <a:srgbClr val="080808"/>
                </a:solidFill>
                <a:effectLst/>
              </a:rPr>
              <a:t>  </a:t>
            </a:r>
            <a:r>
              <a:rPr lang="en-US" b="0" i="0" dirty="0">
                <a:solidFill>
                  <a:srgbClr val="212338"/>
                </a:solidFill>
                <a:effectLst/>
                <a:latin typeface="Metropolis"/>
              </a:rPr>
              <a:t>await </a:t>
            </a:r>
            <a:r>
              <a:rPr lang="en-US" b="0" i="0" dirty="0" err="1">
                <a:solidFill>
                  <a:srgbClr val="212338"/>
                </a:solidFill>
                <a:effectLst/>
                <a:latin typeface="Metropolis"/>
              </a:rPr>
              <a:t>player.setAsset</a:t>
            </a:r>
            <a:r>
              <a:rPr lang="en-US" b="0" i="0" dirty="0">
                <a:solidFill>
                  <a:srgbClr val="212338"/>
                </a:solidFill>
                <a:effectLst/>
                <a:latin typeface="Metropolis"/>
              </a:rPr>
              <a:t>('assets/note1.wav’);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80808"/>
                </a:solidFill>
                <a:effectLst/>
              </a:rPr>
              <a:t>await </a:t>
            </a:r>
            <a:r>
              <a:rPr lang="en-US" dirty="0" err="1">
                <a:solidFill>
                  <a:srgbClr val="080808"/>
                </a:solidFill>
                <a:effectLst/>
              </a:rPr>
              <a:t>player.play</a:t>
            </a:r>
            <a:r>
              <a:rPr lang="en-US" dirty="0">
                <a:solidFill>
                  <a:srgbClr val="080808"/>
                </a:solidFill>
                <a:effectLst/>
              </a:rPr>
              <a:t>();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80808"/>
                </a:solidFill>
              </a:rPr>
              <a:t>}</a:t>
            </a:r>
            <a:endParaRPr lang="en-US" dirty="0">
              <a:solidFill>
                <a:srgbClr val="080808"/>
              </a:solidFill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737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27811-5721-352E-ED04-32B387AF5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 startAt="4"/>
            </a:pPr>
            <a:r>
              <a:rPr lang="en-US" b="1" dirty="0">
                <a:latin typeface="inherit"/>
              </a:rPr>
              <a:t>How to Play Multiple Sounds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2B318-C531-106B-03DE-894EDEACD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12859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Now create 7 buttons which plays the each sound</a:t>
            </a:r>
          </a:p>
          <a:p>
            <a:r>
              <a:rPr lang="en-US" dirty="0"/>
              <a:t>Remove the Center widget, and add Column in which declare 7 buttons with different colors</a:t>
            </a:r>
          </a:p>
          <a:p>
            <a:r>
              <a:rPr lang="en-US" dirty="0"/>
              <a:t>Make the </a:t>
            </a:r>
            <a:r>
              <a:rPr lang="en-US" dirty="0" err="1"/>
              <a:t>ElevatedButton</a:t>
            </a:r>
            <a:r>
              <a:rPr lang="en-US" dirty="0"/>
              <a:t> corners flat as shown in the figure; for that use side attribute </a:t>
            </a:r>
          </a:p>
          <a:p>
            <a:pPr marL="0" indent="0">
              <a:buNone/>
            </a:pPr>
            <a:r>
              <a:rPr lang="en-US" dirty="0"/>
              <a:t>style: </a:t>
            </a:r>
            <a:r>
              <a:rPr lang="en-US" dirty="0" err="1"/>
              <a:t>ElevatedButton.styleFrom</a:t>
            </a:r>
            <a:r>
              <a:rPr lang="en-US" dirty="0"/>
              <a:t>(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 err="1"/>
              <a:t>backgroundColor</a:t>
            </a:r>
            <a:r>
              <a:rPr lang="en-US" dirty="0"/>
              <a:t>: </a:t>
            </a:r>
            <a:r>
              <a:rPr lang="en-US" dirty="0" err="1"/>
              <a:t>Colors.red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shape: </a:t>
            </a:r>
            <a:r>
              <a:rPr lang="en-US" dirty="0" err="1"/>
              <a:t>RoundedRectangleBorder</a:t>
            </a:r>
            <a:r>
              <a:rPr lang="en-US" dirty="0"/>
              <a:t>(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borderRadius</a:t>
            </a:r>
            <a:r>
              <a:rPr lang="en-US" dirty="0"/>
              <a:t>: </a:t>
            </a:r>
            <a:r>
              <a:rPr lang="en-US" dirty="0" err="1"/>
              <a:t>BorderRadius.zero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),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5D340F-6306-1999-B8BC-AC44EDD00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7668" y="1384300"/>
            <a:ext cx="3644900" cy="40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492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A8100-CC3E-93BE-8045-460F5A2D4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21F3-D6D4-3B63-C9A1-CA2D24CEE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 startAt="4"/>
            </a:pPr>
            <a:r>
              <a:rPr lang="en-US" b="1" dirty="0">
                <a:latin typeface="inherit"/>
              </a:rPr>
              <a:t>How to Play Multiple Sounds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44616-3389-425C-43C9-AD2D9F826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12859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Copy – past the </a:t>
            </a:r>
            <a:r>
              <a:rPr lang="en-US" dirty="0" err="1"/>
              <a:t>ElevateButton</a:t>
            </a:r>
            <a:r>
              <a:rPr lang="en-US" dirty="0"/>
              <a:t> 6 times and change the color and sound filename</a:t>
            </a:r>
          </a:p>
          <a:p>
            <a:r>
              <a:rPr lang="en-US" dirty="0"/>
              <a:t>After doing that you may observe that lots of repeated code; for that we build a function </a:t>
            </a:r>
          </a:p>
          <a:p>
            <a:r>
              <a:rPr lang="en-US" dirty="0"/>
              <a:t>First I would like to use a function which take care of my sound files; </a:t>
            </a:r>
          </a:p>
          <a:p>
            <a:pPr marL="0" indent="0">
              <a:buNone/>
            </a:pPr>
            <a:r>
              <a:rPr lang="en-US" dirty="0"/>
              <a:t>  	void </a:t>
            </a:r>
            <a:r>
              <a:rPr lang="en-US" dirty="0" err="1"/>
              <a:t>playsound</a:t>
            </a:r>
            <a:r>
              <a:rPr lang="en-US" dirty="0"/>
              <a:t>(int </a:t>
            </a:r>
            <a:r>
              <a:rPr lang="en-US" dirty="0" err="1"/>
              <a:t>fileno</a:t>
            </a:r>
            <a:r>
              <a:rPr lang="en-US" dirty="0"/>
              <a:t>){}</a:t>
            </a:r>
          </a:p>
          <a:p>
            <a:pPr marL="0" indent="0">
              <a:buNone/>
            </a:pPr>
            <a:r>
              <a:rPr lang="en-US" dirty="0"/>
              <a:t>We reduce no. of lines dramatically, by using function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6D26EC-3C8E-DFE7-0B4C-303050654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7668" y="1384300"/>
            <a:ext cx="3644900" cy="40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842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8D222-EF7D-C6BF-5D33-DFCBB7B0E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 startAt="5"/>
            </a:pPr>
            <a:r>
              <a:rPr lang="en-US" b="1" dirty="0">
                <a:latin typeface="inherit"/>
              </a:rPr>
              <a:t>Updating the UI of Our App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5D304-5BC9-0669-282B-076BCCC37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63104" cy="4351338"/>
          </a:xfrm>
        </p:spPr>
        <p:txBody>
          <a:bodyPr/>
          <a:lstStyle/>
          <a:p>
            <a:r>
              <a:rPr lang="en-US" dirty="0"/>
              <a:t>The layout still taking small proportion of the screen, instead this we need similar layout as shown in the image</a:t>
            </a:r>
          </a:p>
          <a:p>
            <a:r>
              <a:rPr lang="en-US" dirty="0"/>
              <a:t>First make a black background and each key full width take up all the available space in horizontal axis and vertical space evenly divided among all buttons</a:t>
            </a:r>
          </a:p>
          <a:p>
            <a:r>
              <a:rPr lang="en-US" dirty="0"/>
              <a:t>Scaffold-&gt;</a:t>
            </a:r>
            <a:r>
              <a:rPr lang="en-US" dirty="0" err="1"/>
              <a:t>backgroundColor</a:t>
            </a:r>
            <a:r>
              <a:rPr lang="en-US" dirty="0"/>
              <a:t>: black</a:t>
            </a:r>
          </a:p>
          <a:p>
            <a:r>
              <a:rPr lang="en-US" dirty="0"/>
              <a:t>Expanded Widget to each button, as our widgets in Column they expand vertically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B7B2A0-8CF4-C4E1-2BBE-CB81D44651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1304" y="1362263"/>
            <a:ext cx="4690696" cy="377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532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AA184-F3D9-1E69-8E5E-7689013F0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CAD5E-F7E4-CDB9-0F11-507D05A3F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 startAt="5"/>
            </a:pPr>
            <a:r>
              <a:rPr lang="en-US" b="1" dirty="0">
                <a:latin typeface="inherit"/>
              </a:rPr>
              <a:t>Updating the UI of Our App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63FDA-F5AB-5315-B6C0-618667856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63104" cy="4351338"/>
          </a:xfrm>
        </p:spPr>
        <p:txBody>
          <a:bodyPr/>
          <a:lstStyle/>
          <a:p>
            <a:r>
              <a:rPr lang="en-US" dirty="0"/>
              <a:t>We need to each button take up the width space available horizontally, in order to do that we use </a:t>
            </a:r>
            <a:r>
              <a:rPr lang="en-US" dirty="0" err="1"/>
              <a:t>crossAxisAlignment</a:t>
            </a:r>
            <a:r>
              <a:rPr lang="en-US" dirty="0"/>
              <a:t>: </a:t>
            </a:r>
            <a:r>
              <a:rPr lang="en-US" dirty="0" err="1"/>
              <a:t>CrossAxisAlignment</a:t>
            </a:r>
            <a:r>
              <a:rPr lang="en-US" dirty="0"/>
              <a:t>. stretch</a:t>
            </a:r>
          </a:p>
          <a:p>
            <a:r>
              <a:rPr lang="en-US" dirty="0"/>
              <a:t>Now the app is completed but if you look the code its incredibly repetitive, the Expanded Widget code are the same for all the buttons except the button colors and </a:t>
            </a:r>
            <a:r>
              <a:rPr lang="en-US" dirty="0" err="1"/>
              <a:t>playsound</a:t>
            </a:r>
            <a:r>
              <a:rPr lang="en-US" dirty="0"/>
              <a:t> number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81E82E-3FB5-6440-15BA-DA3357FD06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1304" y="1362263"/>
            <a:ext cx="4690696" cy="377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37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3D1D7-509E-F0C8-4C02-8FDD267B3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76D02-DCAC-54BD-AB4B-897B9AF0C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 startAt="5"/>
            </a:pPr>
            <a:r>
              <a:rPr lang="en-US" b="1" dirty="0">
                <a:latin typeface="inherit"/>
              </a:rPr>
              <a:t>Updating the UI of Our App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F5CB9-036F-5266-7449-BF135E90B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63104" cy="4351338"/>
          </a:xfrm>
        </p:spPr>
        <p:txBody>
          <a:bodyPr/>
          <a:lstStyle/>
          <a:p>
            <a:r>
              <a:rPr lang="en-US" dirty="0"/>
              <a:t>Extract the one of the Expanded Widget and try to make the function for that.</a:t>
            </a:r>
          </a:p>
          <a:p>
            <a:r>
              <a:rPr lang="en-US" dirty="0"/>
              <a:t>Then call that function seven time in the Column Widgets. </a:t>
            </a:r>
          </a:p>
          <a:p>
            <a:pPr marL="0" indent="0">
              <a:buNone/>
            </a:pPr>
            <a:r>
              <a:rPr lang="en-US" dirty="0"/>
              <a:t>NOTE:</a:t>
            </a:r>
          </a:p>
          <a:p>
            <a:pPr marL="0" indent="0">
              <a:buNone/>
            </a:pPr>
            <a:r>
              <a:rPr lang="en-US" dirty="0"/>
              <a:t>	The column widget only takes widgets as children; so your function should return as Widget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73FFEF-304E-11EB-D4ED-1F6BBF06A8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1304" y="1362263"/>
            <a:ext cx="4690696" cy="377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116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37EA1-B064-7CF2-8F93-27092CFB1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21DBA-44C4-BB60-0FAB-C947A1978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 startAt="6"/>
            </a:pPr>
            <a:r>
              <a:rPr lang="en-US" b="1" i="0" dirty="0">
                <a:latin typeface="inherit"/>
              </a:rPr>
              <a:t>Refactor and Clean Up our Code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3746E-4F4C-A7D6-270B-5CAEDDBD9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63104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Expanded </a:t>
            </a:r>
            <a:r>
              <a:rPr lang="en-US" dirty="0" err="1"/>
              <a:t>buildKey</a:t>
            </a:r>
            <a:r>
              <a:rPr lang="en-US" dirty="0"/>
              <a:t>(int </a:t>
            </a:r>
            <a:r>
              <a:rPr lang="en-US" dirty="0" err="1"/>
              <a:t>soundFileNo</a:t>
            </a:r>
            <a:r>
              <a:rPr lang="en-US" dirty="0"/>
              <a:t>, Color </a:t>
            </a:r>
            <a:r>
              <a:rPr lang="en-US" dirty="0" err="1"/>
              <a:t>keyColor</a:t>
            </a:r>
            <a:r>
              <a:rPr lang="en-US" dirty="0"/>
              <a:t>) {</a:t>
            </a:r>
            <a:br>
              <a:rPr lang="en-US" dirty="0"/>
            </a:br>
            <a:r>
              <a:rPr lang="en-US" dirty="0"/>
              <a:t>  return Expanded(</a:t>
            </a:r>
            <a:br>
              <a:rPr lang="en-US" dirty="0"/>
            </a:br>
            <a:r>
              <a:rPr lang="en-US" dirty="0"/>
              <a:t>    child: </a:t>
            </a:r>
            <a:r>
              <a:rPr lang="en-US" dirty="0" err="1"/>
              <a:t>ElevatedButton</a:t>
            </a:r>
            <a:r>
              <a:rPr lang="en-US" dirty="0"/>
              <a:t>(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onPressed</a:t>
            </a:r>
            <a:r>
              <a:rPr lang="en-US" dirty="0"/>
              <a:t>: () async {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playSound</a:t>
            </a:r>
            <a:r>
              <a:rPr lang="en-US" dirty="0"/>
              <a:t>(</a:t>
            </a:r>
            <a:r>
              <a:rPr lang="en-US" dirty="0" err="1"/>
              <a:t>soundFileNo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      },</a:t>
            </a:r>
            <a:br>
              <a:rPr lang="en-US" dirty="0"/>
            </a:br>
            <a:r>
              <a:rPr lang="en-US" dirty="0"/>
              <a:t>      child: Text(''),</a:t>
            </a:r>
            <a:br>
              <a:rPr lang="en-US" dirty="0"/>
            </a:br>
            <a:r>
              <a:rPr lang="en-US" dirty="0"/>
              <a:t>      style: </a:t>
            </a:r>
            <a:r>
              <a:rPr lang="en-US" dirty="0" err="1"/>
              <a:t>ElevatedButton.styleFrom</a:t>
            </a:r>
            <a:r>
              <a:rPr lang="en-US" dirty="0"/>
              <a:t>(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backgroundColor</a:t>
            </a:r>
            <a:r>
              <a:rPr lang="en-US" dirty="0"/>
              <a:t>: </a:t>
            </a:r>
            <a:r>
              <a:rPr lang="en-US" dirty="0" err="1"/>
              <a:t>keyColor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    shape: </a:t>
            </a:r>
            <a:r>
              <a:rPr lang="en-US" dirty="0" err="1"/>
              <a:t>RoundedRectangleBorder</a:t>
            </a:r>
            <a:r>
              <a:rPr lang="en-US" dirty="0"/>
              <a:t>(</a:t>
            </a:r>
            <a:br>
              <a:rPr lang="en-US" dirty="0"/>
            </a:br>
            <a:r>
              <a:rPr lang="en-US" dirty="0"/>
              <a:t>          </a:t>
            </a:r>
            <a:r>
              <a:rPr lang="en-US" dirty="0" err="1"/>
              <a:t>borderRadius</a:t>
            </a:r>
            <a:r>
              <a:rPr lang="en-US" dirty="0"/>
              <a:t>: </a:t>
            </a:r>
            <a:r>
              <a:rPr lang="en-US" dirty="0" err="1"/>
              <a:t>BorderRadius.zero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    ),</a:t>
            </a:r>
            <a:br>
              <a:rPr lang="en-US" dirty="0"/>
            </a:br>
            <a:r>
              <a:rPr lang="en-US" dirty="0"/>
              <a:t>      ),</a:t>
            </a:r>
            <a:br>
              <a:rPr lang="en-US" dirty="0"/>
            </a:br>
            <a:r>
              <a:rPr lang="en-US" dirty="0"/>
              <a:t>    ),</a:t>
            </a:r>
            <a:br>
              <a:rPr lang="en-US" dirty="0"/>
            </a:br>
            <a:r>
              <a:rPr lang="en-US" dirty="0"/>
              <a:t>  );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4BD61A-21B7-32E8-1FE0-7C4320AFBF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1304" y="1362263"/>
            <a:ext cx="4690696" cy="377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331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3CB32-B78E-5D4D-EB98-23CA805A4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9561E-B374-BD68-4C0E-D0013CAC7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There's a large collection of free sounds at </a:t>
            </a:r>
            <a:r>
              <a:rPr lang="en-US" dirty="0">
                <a:hlinkClick r:id="rId2"/>
              </a:rPr>
              <a:t>https://freesound.org/</a:t>
            </a:r>
            <a:endParaRPr lang="en-US" dirty="0"/>
          </a:p>
          <a:p>
            <a:r>
              <a:rPr lang="en-US" dirty="0"/>
              <a:t>You can download collections of various sounds, e.g. birds/fart sounds/atmospheric sounds.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986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F597B-425D-30B6-7D53-51FBF7D53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1234"/>
          </a:xfrm>
        </p:spPr>
        <p:txBody>
          <a:bodyPr/>
          <a:lstStyle/>
          <a:p>
            <a:r>
              <a:rPr lang="en-US" dirty="0"/>
              <a:t>Class Task-5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2EDED-C095-2914-6365-5B918A9AC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6360"/>
            <a:ext cx="6477000" cy="5036947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Create a new Flutter project named: </a:t>
            </a:r>
            <a:r>
              <a:rPr lang="en-US" dirty="0" err="1"/>
              <a:t>soundboard_app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Download </a:t>
            </a:r>
            <a:r>
              <a:rPr lang="en-US" b="1" dirty="0"/>
              <a:t>5 sound files</a:t>
            </a:r>
            <a:r>
              <a:rPr lang="en-US" dirty="0"/>
              <a:t> (for example: dog, cat, bell, clap, whistle) and place them inside the assets folder.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package </a:t>
            </a:r>
            <a:r>
              <a:rPr lang="en-US" dirty="0" err="1"/>
              <a:t>just_audio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</a:t>
            </a:r>
            <a:r>
              <a:rPr lang="en-US" b="1" dirty="0"/>
              <a:t>5 buttons</a:t>
            </a:r>
            <a:r>
              <a:rPr lang="en-US" dirty="0"/>
              <a:t> where each button plays a different sound.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Modify the UI with the following requirements:</a:t>
            </a:r>
          </a:p>
          <a:p>
            <a:pPr lvl="1"/>
            <a:r>
              <a:rPr lang="en-US" dirty="0"/>
              <a:t>Background color </a:t>
            </a:r>
            <a:r>
              <a:rPr lang="en-US" b="1" dirty="0"/>
              <a:t>dark grey</a:t>
            </a:r>
            <a:endParaRPr lang="en-US" dirty="0"/>
          </a:p>
          <a:p>
            <a:pPr lvl="1"/>
            <a:r>
              <a:rPr lang="en-US" dirty="0"/>
              <a:t>Buttons take </a:t>
            </a:r>
            <a:r>
              <a:rPr lang="en-US" b="1" dirty="0"/>
              <a:t>full width</a:t>
            </a:r>
            <a:endParaRPr lang="en-US" dirty="0"/>
          </a:p>
          <a:p>
            <a:pPr lvl="1"/>
            <a:r>
              <a:rPr lang="en-US" dirty="0"/>
              <a:t>Buttons take </a:t>
            </a:r>
            <a:r>
              <a:rPr lang="en-US" b="1" dirty="0"/>
              <a:t>equal vertical space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Instead of repeating code, create a function for the </a:t>
            </a:r>
            <a:r>
              <a:rPr lang="en-US" dirty="0" err="1"/>
              <a:t>playSound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a function that returns a </a:t>
            </a:r>
            <a:r>
              <a:rPr lang="en-US" b="1" dirty="0"/>
              <a:t>Widget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Each button must display an </a:t>
            </a:r>
            <a:r>
              <a:rPr lang="en-US" b="1" dirty="0"/>
              <a:t>animal icon</a:t>
            </a:r>
            <a:r>
              <a:rPr lang="en-US" dirty="0"/>
              <a:t> that represents the sound being played.</a:t>
            </a:r>
            <a:br>
              <a:rPr lang="en-US" dirty="0"/>
            </a:br>
            <a:r>
              <a:rPr lang="en-US" dirty="0"/>
              <a:t>When the user </a:t>
            </a:r>
            <a:r>
              <a:rPr lang="en-US" b="1" dirty="0"/>
              <a:t>clicks the button</a:t>
            </a:r>
            <a:r>
              <a:rPr lang="en-US" dirty="0"/>
              <a:t>, the </a:t>
            </a:r>
            <a:r>
              <a:rPr lang="en-US" b="1" dirty="0"/>
              <a:t>animal sound should play</a:t>
            </a:r>
            <a:r>
              <a:rPr lang="en-US" dirty="0"/>
              <a:t>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F362156-B75C-FE3D-A12E-C11932720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110429"/>
              </p:ext>
            </p:extLst>
          </p:nvPr>
        </p:nvGraphicFramePr>
        <p:xfrm>
          <a:off x="7609668" y="1610273"/>
          <a:ext cx="4426059" cy="2194560"/>
        </p:xfrm>
        <a:graphic>
          <a:graphicData uri="http://schemas.openxmlformats.org/drawingml/2006/table">
            <a:tbl>
              <a:tblPr/>
              <a:tblGrid>
                <a:gridCol w="1475353">
                  <a:extLst>
                    <a:ext uri="{9D8B030D-6E8A-4147-A177-3AD203B41FA5}">
                      <a16:colId xmlns:a16="http://schemas.microsoft.com/office/drawing/2014/main" val="695461200"/>
                    </a:ext>
                  </a:extLst>
                </a:gridCol>
                <a:gridCol w="1475353">
                  <a:extLst>
                    <a:ext uri="{9D8B030D-6E8A-4147-A177-3AD203B41FA5}">
                      <a16:colId xmlns:a16="http://schemas.microsoft.com/office/drawing/2014/main" val="2728717001"/>
                    </a:ext>
                  </a:extLst>
                </a:gridCol>
                <a:gridCol w="1475353">
                  <a:extLst>
                    <a:ext uri="{9D8B030D-6E8A-4147-A177-3AD203B41FA5}">
                      <a16:colId xmlns:a16="http://schemas.microsoft.com/office/drawing/2014/main" val="11484514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Button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Icon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Sound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36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Dog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dog.wav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053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cat.wav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55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🐮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cow.wav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9873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lion.wav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225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Bird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bird.wav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7967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2550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1838</TotalTime>
  <Words>1204</Words>
  <Application>Microsoft Macintosh PowerPoint</Application>
  <PresentationFormat>Widescreen</PresentationFormat>
  <Paragraphs>116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inherit</vt:lpstr>
      <vt:lpstr>Metropolis</vt:lpstr>
      <vt:lpstr>Office Theme</vt:lpstr>
      <vt:lpstr>Xylophone Using Flutter &amp; Dart Packages to Speed up Development</vt:lpstr>
      <vt:lpstr>Diving Deeper into Dart Programming</vt:lpstr>
      <vt:lpstr>Topics in this Lecture</vt:lpstr>
      <vt:lpstr>Xylophone – Get the ingredient for that</vt:lpstr>
      <vt:lpstr>What are Flutter &amp; Dart Packages?</vt:lpstr>
      <vt:lpstr>What are Flutter &amp; Dart Packages?</vt:lpstr>
      <vt:lpstr>What are Flutter &amp; Dart Packages?</vt:lpstr>
      <vt:lpstr>How to Play Sound Across Platforms</vt:lpstr>
      <vt:lpstr>How to Play Sound Across Platforms</vt:lpstr>
      <vt:lpstr>How to Play Multiple Sounds</vt:lpstr>
      <vt:lpstr>How to Play Multiple Sounds</vt:lpstr>
      <vt:lpstr>Updating the UI of Our App</vt:lpstr>
      <vt:lpstr>Updating the UI of Our App</vt:lpstr>
      <vt:lpstr>Updating the UI of Our App</vt:lpstr>
      <vt:lpstr>Refactor and Clean Up our Code</vt:lpstr>
      <vt:lpstr>Extra</vt:lpstr>
      <vt:lpstr>Class Task-5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Mustafa Bamboat</dc:creator>
  <cp:lastModifiedBy>Mustafa Bamboat</cp:lastModifiedBy>
  <cp:revision>156</cp:revision>
  <dcterms:created xsi:type="dcterms:W3CDTF">2026-02-17T22:45:36Z</dcterms:created>
  <dcterms:modified xsi:type="dcterms:W3CDTF">2026-03-12T17:05:42Z</dcterms:modified>
</cp:coreProperties>
</file>