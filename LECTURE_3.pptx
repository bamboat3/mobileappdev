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81" r:id="rId4"/>
    <p:sldId id="282" r:id="rId5"/>
    <p:sldId id="294" r:id="rId6"/>
    <p:sldId id="283" r:id="rId7"/>
    <p:sldId id="295" r:id="rId8"/>
    <p:sldId id="296" r:id="rId9"/>
    <p:sldId id="297" r:id="rId10"/>
    <p:sldId id="298" r:id="rId11"/>
    <p:sldId id="299" r:id="rId12"/>
    <p:sldId id="300" r:id="rId13"/>
    <p:sldId id="301" r:id="rId14"/>
    <p:sldId id="302" r:id="rId15"/>
    <p:sldId id="303" r:id="rId16"/>
    <p:sldId id="304" r:id="rId17"/>
    <p:sldId id="305" r:id="rId18"/>
    <p:sldId id="306" r:id="rId19"/>
    <p:sldId id="307" r:id="rId20"/>
    <p:sldId id="308" r:id="rId21"/>
    <p:sldId id="309" r:id="rId22"/>
    <p:sldId id="310" r:id="rId23"/>
    <p:sldId id="25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C0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65"/>
    <p:restoredTop sz="94694"/>
  </p:normalViewPr>
  <p:slideViewPr>
    <p:cSldViewPr snapToGrid="0">
      <p:cViewPr varScale="1">
        <p:scale>
          <a:sx n="121" d="100"/>
          <a:sy n="121" d="100"/>
        </p:scale>
        <p:origin x="92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C83ACF-19D0-E24D-8154-BABCE14F690B}" type="datetimeFigureOut">
              <a:rPr lang="en-US" smtClean="0"/>
              <a:t>2/27/26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7A1CA5-E69A-9B4C-9163-04C60EE9DEFA}" type="slidenum">
              <a:rPr lang="en-US" smtClean="0"/>
              <a:t>‹#›</a:t>
            </a:fld>
            <a:endParaRPr lang="en-US"/>
          </a:p>
        </p:txBody>
      </p:sp>
    </p:spTree>
    <p:extLst>
      <p:ext uri="{BB962C8B-B14F-4D97-AF65-F5344CB8AC3E}">
        <p14:creationId xmlns:p14="http://schemas.microsoft.com/office/powerpoint/2010/main" val="517842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7A1CA5-E69A-9B4C-9163-04C60EE9DEFA}" type="slidenum">
              <a:rPr lang="en-US" smtClean="0"/>
              <a:t>4</a:t>
            </a:fld>
            <a:endParaRPr lang="en-US"/>
          </a:p>
        </p:txBody>
      </p:sp>
    </p:spTree>
    <p:extLst>
      <p:ext uri="{BB962C8B-B14F-4D97-AF65-F5344CB8AC3E}">
        <p14:creationId xmlns:p14="http://schemas.microsoft.com/office/powerpoint/2010/main" val="1761555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64EAC-46F7-66C7-EFD0-F978D8EDA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DD958A-72B5-6DDC-BB36-3B80E92A4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461591-E291-9737-E8B3-FB101120B8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7CF2BB-D19C-906B-08AC-05DFA33D3081}"/>
              </a:ext>
            </a:extLst>
          </p:cNvPr>
          <p:cNvSpPr>
            <a:spLocks noGrp="1"/>
          </p:cNvSpPr>
          <p:nvPr>
            <p:ph type="sldNum" sz="quarter" idx="5"/>
          </p:nvPr>
        </p:nvSpPr>
        <p:spPr/>
        <p:txBody>
          <a:bodyPr/>
          <a:lstStyle/>
          <a:p>
            <a:fld id="{247A1CA5-E69A-9B4C-9163-04C60EE9DEFA}" type="slidenum">
              <a:rPr lang="en-US" smtClean="0"/>
              <a:t>5</a:t>
            </a:fld>
            <a:endParaRPr lang="en-US"/>
          </a:p>
        </p:txBody>
      </p:sp>
    </p:spTree>
    <p:extLst>
      <p:ext uri="{BB962C8B-B14F-4D97-AF65-F5344CB8AC3E}">
        <p14:creationId xmlns:p14="http://schemas.microsoft.com/office/powerpoint/2010/main" val="1023075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7A1CA5-E69A-9B4C-9163-04C60EE9DEFA}" type="slidenum">
              <a:rPr lang="en-US" smtClean="0"/>
              <a:t>18</a:t>
            </a:fld>
            <a:endParaRPr lang="en-US"/>
          </a:p>
        </p:txBody>
      </p:sp>
    </p:spTree>
    <p:extLst>
      <p:ext uri="{BB962C8B-B14F-4D97-AF65-F5344CB8AC3E}">
        <p14:creationId xmlns:p14="http://schemas.microsoft.com/office/powerpoint/2010/main" val="9278819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55262-5C6F-D69A-F7A7-2053C42A4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272967-371C-84E7-5D1D-E23E33C186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8A186F-6E06-06E6-B430-941E7AB2A9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39FB40-3217-2DBA-60A6-52BEFB5E0C6B}"/>
              </a:ext>
            </a:extLst>
          </p:cNvPr>
          <p:cNvSpPr>
            <a:spLocks noGrp="1"/>
          </p:cNvSpPr>
          <p:nvPr>
            <p:ph type="sldNum" sz="quarter" idx="5"/>
          </p:nvPr>
        </p:nvSpPr>
        <p:spPr/>
        <p:txBody>
          <a:bodyPr/>
          <a:lstStyle/>
          <a:p>
            <a:fld id="{247A1CA5-E69A-9B4C-9163-04C60EE9DEFA}" type="slidenum">
              <a:rPr lang="en-US" smtClean="0"/>
              <a:t>19</a:t>
            </a:fld>
            <a:endParaRPr lang="en-US"/>
          </a:p>
        </p:txBody>
      </p:sp>
    </p:spTree>
    <p:extLst>
      <p:ext uri="{BB962C8B-B14F-4D97-AF65-F5344CB8AC3E}">
        <p14:creationId xmlns:p14="http://schemas.microsoft.com/office/powerpoint/2010/main" val="37736954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AA12B-31FE-7881-AF22-8BC0F4A76A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82EE27-E25A-FCD1-EC1C-32AC5137A3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0E1F6F-DC61-8792-269D-DAA07E1FF3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1C35E3-17E4-EF5E-BC2E-2A42E442FECE}"/>
              </a:ext>
            </a:extLst>
          </p:cNvPr>
          <p:cNvSpPr>
            <a:spLocks noGrp="1"/>
          </p:cNvSpPr>
          <p:nvPr>
            <p:ph type="sldNum" sz="quarter" idx="5"/>
          </p:nvPr>
        </p:nvSpPr>
        <p:spPr/>
        <p:txBody>
          <a:bodyPr/>
          <a:lstStyle/>
          <a:p>
            <a:fld id="{247A1CA5-E69A-9B4C-9163-04C60EE9DEFA}" type="slidenum">
              <a:rPr lang="en-US" smtClean="0"/>
              <a:t>20</a:t>
            </a:fld>
            <a:endParaRPr lang="en-US"/>
          </a:p>
        </p:txBody>
      </p:sp>
    </p:spTree>
    <p:extLst>
      <p:ext uri="{BB962C8B-B14F-4D97-AF65-F5344CB8AC3E}">
        <p14:creationId xmlns:p14="http://schemas.microsoft.com/office/powerpoint/2010/main" val="1039711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15926-B97D-FE5E-A489-03E8D3E657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9AEB05-2A1C-9EF8-F2C6-6165841A0C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BDA463-0D2C-47E4-C3BD-F162130259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14A493-FE64-377B-7AAD-5D7ACB6C58D8}"/>
              </a:ext>
            </a:extLst>
          </p:cNvPr>
          <p:cNvSpPr>
            <a:spLocks noGrp="1"/>
          </p:cNvSpPr>
          <p:nvPr>
            <p:ph type="sldNum" sz="quarter" idx="5"/>
          </p:nvPr>
        </p:nvSpPr>
        <p:spPr/>
        <p:txBody>
          <a:bodyPr/>
          <a:lstStyle/>
          <a:p>
            <a:fld id="{247A1CA5-E69A-9B4C-9163-04C60EE9DEFA}" type="slidenum">
              <a:rPr lang="en-US" smtClean="0"/>
              <a:t>21</a:t>
            </a:fld>
            <a:endParaRPr lang="en-US"/>
          </a:p>
        </p:txBody>
      </p:sp>
    </p:spTree>
    <p:extLst>
      <p:ext uri="{BB962C8B-B14F-4D97-AF65-F5344CB8AC3E}">
        <p14:creationId xmlns:p14="http://schemas.microsoft.com/office/powerpoint/2010/main" val="401941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7A1CA5-E69A-9B4C-9163-04C60EE9DEFA}" type="slidenum">
              <a:rPr lang="en-US" smtClean="0"/>
              <a:t>23</a:t>
            </a:fld>
            <a:endParaRPr lang="en-US"/>
          </a:p>
        </p:txBody>
      </p:sp>
    </p:spTree>
    <p:extLst>
      <p:ext uri="{BB962C8B-B14F-4D97-AF65-F5344CB8AC3E}">
        <p14:creationId xmlns:p14="http://schemas.microsoft.com/office/powerpoint/2010/main" val="4064727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20B54-BF3C-35A0-1008-24A2DFE7B9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F9FD61E-FEC0-3BAF-C353-D84FC457FE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6579F-6F30-2AE8-66C8-079836C847DE}"/>
              </a:ext>
            </a:extLst>
          </p:cNvPr>
          <p:cNvSpPr>
            <a:spLocks noGrp="1"/>
          </p:cNvSpPr>
          <p:nvPr>
            <p:ph type="dt" sz="half" idx="10"/>
          </p:nvPr>
        </p:nvSpPr>
        <p:spPr/>
        <p:txBody>
          <a:bodyPr/>
          <a:lstStyle/>
          <a:p>
            <a:fld id="{AE7BD6CE-4DB7-D444-8297-1617B8BAEA4B}" type="datetimeFigureOut">
              <a:rPr lang="en-US" smtClean="0"/>
              <a:t>2/27/26</a:t>
            </a:fld>
            <a:endParaRPr lang="en-US"/>
          </a:p>
        </p:txBody>
      </p:sp>
      <p:sp>
        <p:nvSpPr>
          <p:cNvPr id="5" name="Footer Placeholder 4">
            <a:extLst>
              <a:ext uri="{FF2B5EF4-FFF2-40B4-BE49-F238E27FC236}">
                <a16:creationId xmlns:a16="http://schemas.microsoft.com/office/drawing/2014/main" id="{20FE3191-0B4C-F49F-5693-1D6700DBEE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C39600-0D8D-CBB3-A5F1-35B8C1069EB7}"/>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3137772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CCEB9-8A8C-433C-7DE2-5E14A4AE74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C9BADD-742C-5D68-6A94-E8231081DD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8F3195-54A9-1DA1-9861-5A5ABBB1E0F8}"/>
              </a:ext>
            </a:extLst>
          </p:cNvPr>
          <p:cNvSpPr>
            <a:spLocks noGrp="1"/>
          </p:cNvSpPr>
          <p:nvPr>
            <p:ph type="dt" sz="half" idx="10"/>
          </p:nvPr>
        </p:nvSpPr>
        <p:spPr/>
        <p:txBody>
          <a:bodyPr/>
          <a:lstStyle/>
          <a:p>
            <a:fld id="{AE7BD6CE-4DB7-D444-8297-1617B8BAEA4B}" type="datetimeFigureOut">
              <a:rPr lang="en-US" smtClean="0"/>
              <a:t>2/27/26</a:t>
            </a:fld>
            <a:endParaRPr lang="en-US"/>
          </a:p>
        </p:txBody>
      </p:sp>
      <p:sp>
        <p:nvSpPr>
          <p:cNvPr id="5" name="Footer Placeholder 4">
            <a:extLst>
              <a:ext uri="{FF2B5EF4-FFF2-40B4-BE49-F238E27FC236}">
                <a16:creationId xmlns:a16="http://schemas.microsoft.com/office/drawing/2014/main" id="{29400BE1-A484-421F-D8D7-7A3FA0679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4CED8E-9045-23A8-143B-174FA56EDEE3}"/>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1394423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90D5B-3881-EB5A-EDC3-072D640B20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2880F9D-F58F-7763-A71C-D62C89215F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968AA3-5557-D0B7-587D-F2161F473957}"/>
              </a:ext>
            </a:extLst>
          </p:cNvPr>
          <p:cNvSpPr>
            <a:spLocks noGrp="1"/>
          </p:cNvSpPr>
          <p:nvPr>
            <p:ph type="dt" sz="half" idx="10"/>
          </p:nvPr>
        </p:nvSpPr>
        <p:spPr/>
        <p:txBody>
          <a:bodyPr/>
          <a:lstStyle/>
          <a:p>
            <a:fld id="{AE7BD6CE-4DB7-D444-8297-1617B8BAEA4B}" type="datetimeFigureOut">
              <a:rPr lang="en-US" smtClean="0"/>
              <a:t>2/27/26</a:t>
            </a:fld>
            <a:endParaRPr lang="en-US"/>
          </a:p>
        </p:txBody>
      </p:sp>
      <p:sp>
        <p:nvSpPr>
          <p:cNvPr id="5" name="Footer Placeholder 4">
            <a:extLst>
              <a:ext uri="{FF2B5EF4-FFF2-40B4-BE49-F238E27FC236}">
                <a16:creationId xmlns:a16="http://schemas.microsoft.com/office/drawing/2014/main" id="{CF39AA12-3B46-51C0-2801-9C090CE466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36FB7A-3AF9-E152-CD8E-7C5B6C5E594C}"/>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982063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E7EA1-C74B-3154-CEF6-2763DFEC56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4261C4-7CDA-76B3-91F5-93AA9CC576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2ACAB1D-8ED3-B6E7-1BF1-35634A0DD5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81E8C1-006B-9654-73FC-08BF23DA6FEE}"/>
              </a:ext>
            </a:extLst>
          </p:cNvPr>
          <p:cNvSpPr>
            <a:spLocks noGrp="1"/>
          </p:cNvSpPr>
          <p:nvPr>
            <p:ph type="dt" sz="half" idx="10"/>
          </p:nvPr>
        </p:nvSpPr>
        <p:spPr/>
        <p:txBody>
          <a:bodyPr/>
          <a:lstStyle/>
          <a:p>
            <a:fld id="{AE7BD6CE-4DB7-D444-8297-1617B8BAEA4B}" type="datetimeFigureOut">
              <a:rPr lang="en-US" smtClean="0"/>
              <a:t>2/27/26</a:t>
            </a:fld>
            <a:endParaRPr lang="en-US"/>
          </a:p>
        </p:txBody>
      </p:sp>
      <p:sp>
        <p:nvSpPr>
          <p:cNvPr id="6" name="Footer Placeholder 5">
            <a:extLst>
              <a:ext uri="{FF2B5EF4-FFF2-40B4-BE49-F238E27FC236}">
                <a16:creationId xmlns:a16="http://schemas.microsoft.com/office/drawing/2014/main" id="{24DF076A-AFB1-836D-1570-B42523237A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3FBE42-9B3E-FCF8-C385-B04CEAECA106}"/>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2348554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DA82D-D30C-9B35-DBDC-AAFFECF11B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B7E3BB1-1C05-67D4-DF85-C5937E929B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30F608-B3D2-0F85-67F1-DB2CD86C9C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423584-F97D-ACE4-6431-736FA85D82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38BFC3-73FF-F9D6-E4F6-62ABC7B666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5730605-0E49-7438-7D02-8F440B64F2BC}"/>
              </a:ext>
            </a:extLst>
          </p:cNvPr>
          <p:cNvSpPr>
            <a:spLocks noGrp="1"/>
          </p:cNvSpPr>
          <p:nvPr>
            <p:ph type="dt" sz="half" idx="10"/>
          </p:nvPr>
        </p:nvSpPr>
        <p:spPr/>
        <p:txBody>
          <a:bodyPr/>
          <a:lstStyle/>
          <a:p>
            <a:fld id="{AE7BD6CE-4DB7-D444-8297-1617B8BAEA4B}" type="datetimeFigureOut">
              <a:rPr lang="en-US" smtClean="0"/>
              <a:t>2/27/26</a:t>
            </a:fld>
            <a:endParaRPr lang="en-US"/>
          </a:p>
        </p:txBody>
      </p:sp>
      <p:sp>
        <p:nvSpPr>
          <p:cNvPr id="8" name="Footer Placeholder 7">
            <a:extLst>
              <a:ext uri="{FF2B5EF4-FFF2-40B4-BE49-F238E27FC236}">
                <a16:creationId xmlns:a16="http://schemas.microsoft.com/office/drawing/2014/main" id="{3EACBC7A-CC42-311A-5DEE-2918E481C87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A599BAB-2378-1718-66A1-78BA305BB24E}"/>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187354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109A-8885-34E0-00BE-235B89C5F7E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7A7299-8133-8651-F8AA-F64A6D3970B9}"/>
              </a:ext>
            </a:extLst>
          </p:cNvPr>
          <p:cNvSpPr>
            <a:spLocks noGrp="1"/>
          </p:cNvSpPr>
          <p:nvPr>
            <p:ph type="dt" sz="half" idx="10"/>
          </p:nvPr>
        </p:nvSpPr>
        <p:spPr/>
        <p:txBody>
          <a:bodyPr/>
          <a:lstStyle/>
          <a:p>
            <a:fld id="{AE7BD6CE-4DB7-D444-8297-1617B8BAEA4B}" type="datetimeFigureOut">
              <a:rPr lang="en-US" smtClean="0"/>
              <a:t>2/27/26</a:t>
            </a:fld>
            <a:endParaRPr lang="en-US"/>
          </a:p>
        </p:txBody>
      </p:sp>
      <p:sp>
        <p:nvSpPr>
          <p:cNvPr id="4" name="Footer Placeholder 3">
            <a:extLst>
              <a:ext uri="{FF2B5EF4-FFF2-40B4-BE49-F238E27FC236}">
                <a16:creationId xmlns:a16="http://schemas.microsoft.com/office/drawing/2014/main" id="{AF0B66F6-68C2-8923-84D2-D73C89D700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A04D63F-04AA-0B65-58C4-6A780252AC55}"/>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777276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6F56FF-723D-C8C7-D659-A650ED93808A}"/>
              </a:ext>
            </a:extLst>
          </p:cNvPr>
          <p:cNvSpPr>
            <a:spLocks noGrp="1"/>
          </p:cNvSpPr>
          <p:nvPr>
            <p:ph type="dt" sz="half" idx="10"/>
          </p:nvPr>
        </p:nvSpPr>
        <p:spPr/>
        <p:txBody>
          <a:bodyPr/>
          <a:lstStyle/>
          <a:p>
            <a:fld id="{AE7BD6CE-4DB7-D444-8297-1617B8BAEA4B}" type="datetimeFigureOut">
              <a:rPr lang="en-US" smtClean="0"/>
              <a:t>2/27/26</a:t>
            </a:fld>
            <a:endParaRPr lang="en-US"/>
          </a:p>
        </p:txBody>
      </p:sp>
      <p:sp>
        <p:nvSpPr>
          <p:cNvPr id="3" name="Footer Placeholder 2">
            <a:extLst>
              <a:ext uri="{FF2B5EF4-FFF2-40B4-BE49-F238E27FC236}">
                <a16:creationId xmlns:a16="http://schemas.microsoft.com/office/drawing/2014/main" id="{5E5CF9D4-6D4C-9FC6-5465-FDB007D6DB8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84FB93-4885-AC65-880C-CA88124CD1EC}"/>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2348339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E3F0-2D62-C82E-C2A8-CFB341F847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F354CD3-C1D8-AE54-ED05-E2075A6A66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B5F72B-E343-86DD-057D-C76DE86D7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ADCB89-6AB7-97BA-2CC3-50C3FB533A43}"/>
              </a:ext>
            </a:extLst>
          </p:cNvPr>
          <p:cNvSpPr>
            <a:spLocks noGrp="1"/>
          </p:cNvSpPr>
          <p:nvPr>
            <p:ph type="dt" sz="half" idx="10"/>
          </p:nvPr>
        </p:nvSpPr>
        <p:spPr/>
        <p:txBody>
          <a:bodyPr/>
          <a:lstStyle/>
          <a:p>
            <a:fld id="{AE7BD6CE-4DB7-D444-8297-1617B8BAEA4B}" type="datetimeFigureOut">
              <a:rPr lang="en-US" smtClean="0"/>
              <a:t>2/27/26</a:t>
            </a:fld>
            <a:endParaRPr lang="en-US"/>
          </a:p>
        </p:txBody>
      </p:sp>
      <p:sp>
        <p:nvSpPr>
          <p:cNvPr id="6" name="Footer Placeholder 5">
            <a:extLst>
              <a:ext uri="{FF2B5EF4-FFF2-40B4-BE49-F238E27FC236}">
                <a16:creationId xmlns:a16="http://schemas.microsoft.com/office/drawing/2014/main" id="{86045142-DEC9-54E0-72A7-0ED03EAEA4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CB392A-6427-D85A-B895-47794856A22E}"/>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1695273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A976A-F4D0-16B3-2134-C868E16EC9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A694E0A-0AE0-9D0E-A6C9-BD70DB78E5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6FC244-CD72-DE6A-0612-91D3E1CBF9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1656F6-A67F-A3CB-5B8D-3833E838913F}"/>
              </a:ext>
            </a:extLst>
          </p:cNvPr>
          <p:cNvSpPr>
            <a:spLocks noGrp="1"/>
          </p:cNvSpPr>
          <p:nvPr>
            <p:ph type="dt" sz="half" idx="10"/>
          </p:nvPr>
        </p:nvSpPr>
        <p:spPr/>
        <p:txBody>
          <a:bodyPr/>
          <a:lstStyle/>
          <a:p>
            <a:fld id="{AE7BD6CE-4DB7-D444-8297-1617B8BAEA4B}" type="datetimeFigureOut">
              <a:rPr lang="en-US" smtClean="0"/>
              <a:t>2/27/26</a:t>
            </a:fld>
            <a:endParaRPr lang="en-US"/>
          </a:p>
        </p:txBody>
      </p:sp>
      <p:sp>
        <p:nvSpPr>
          <p:cNvPr id="6" name="Footer Placeholder 5">
            <a:extLst>
              <a:ext uri="{FF2B5EF4-FFF2-40B4-BE49-F238E27FC236}">
                <a16:creationId xmlns:a16="http://schemas.microsoft.com/office/drawing/2014/main" id="{D285D1E1-B3C7-85BC-E554-66F2781ADC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D03AA3-675A-64A4-63D4-ADDB3D9E157D}"/>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3595853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BEC05-02C0-643D-6278-B5852F8D08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89AD3A-F5B9-1CBF-D2A1-DB049A15B7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DC06CD-3217-45C6-7538-744B0BAFC893}"/>
              </a:ext>
            </a:extLst>
          </p:cNvPr>
          <p:cNvSpPr>
            <a:spLocks noGrp="1"/>
          </p:cNvSpPr>
          <p:nvPr>
            <p:ph type="dt" sz="half" idx="10"/>
          </p:nvPr>
        </p:nvSpPr>
        <p:spPr/>
        <p:txBody>
          <a:bodyPr/>
          <a:lstStyle/>
          <a:p>
            <a:fld id="{AE7BD6CE-4DB7-D444-8297-1617B8BAEA4B}" type="datetimeFigureOut">
              <a:rPr lang="en-US" smtClean="0"/>
              <a:t>2/27/26</a:t>
            </a:fld>
            <a:endParaRPr lang="en-US"/>
          </a:p>
        </p:txBody>
      </p:sp>
      <p:sp>
        <p:nvSpPr>
          <p:cNvPr id="5" name="Footer Placeholder 4">
            <a:extLst>
              <a:ext uri="{FF2B5EF4-FFF2-40B4-BE49-F238E27FC236}">
                <a16:creationId xmlns:a16="http://schemas.microsoft.com/office/drawing/2014/main" id="{7F344ABA-22D7-D94E-4D76-A24629B52E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B5A0EB-9DA8-D2E1-15A4-E653B35F9A59}"/>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2966199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58E7AC-AF56-EB4A-7457-44D360CE2F6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144B00-E3FA-5798-BB03-0489FF46E4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DC7411-D94E-AADE-FEF9-5F7334F63737}"/>
              </a:ext>
            </a:extLst>
          </p:cNvPr>
          <p:cNvSpPr>
            <a:spLocks noGrp="1"/>
          </p:cNvSpPr>
          <p:nvPr>
            <p:ph type="dt" sz="half" idx="10"/>
          </p:nvPr>
        </p:nvSpPr>
        <p:spPr/>
        <p:txBody>
          <a:bodyPr/>
          <a:lstStyle/>
          <a:p>
            <a:fld id="{AE7BD6CE-4DB7-D444-8297-1617B8BAEA4B}" type="datetimeFigureOut">
              <a:rPr lang="en-US" smtClean="0"/>
              <a:t>2/27/26</a:t>
            </a:fld>
            <a:endParaRPr lang="en-US"/>
          </a:p>
        </p:txBody>
      </p:sp>
      <p:sp>
        <p:nvSpPr>
          <p:cNvPr id="5" name="Footer Placeholder 4">
            <a:extLst>
              <a:ext uri="{FF2B5EF4-FFF2-40B4-BE49-F238E27FC236}">
                <a16:creationId xmlns:a16="http://schemas.microsoft.com/office/drawing/2014/main" id="{9BAE9DD5-BBDE-3522-6506-A75FFE38A4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5308D5-7B0B-223B-C099-6AED107FF4D4}"/>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195770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53C0F6"/>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338741-EC01-C7A8-1E75-B7DDD91F27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53BF00EC-FA55-A511-ED76-FDCA8E8269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0BFCD0A-EF9E-3090-A75B-6C1A988B9A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7BD6CE-4DB7-D444-8297-1617B8BAEA4B}" type="datetimeFigureOut">
              <a:rPr lang="en-US" smtClean="0"/>
              <a:t>2/27/26</a:t>
            </a:fld>
            <a:endParaRPr lang="en-US"/>
          </a:p>
        </p:txBody>
      </p:sp>
      <p:sp>
        <p:nvSpPr>
          <p:cNvPr id="5" name="Footer Placeholder 4">
            <a:extLst>
              <a:ext uri="{FF2B5EF4-FFF2-40B4-BE49-F238E27FC236}">
                <a16:creationId xmlns:a16="http://schemas.microsoft.com/office/drawing/2014/main" id="{F52BC5E2-8A81-F747-C047-E0EFEDAB9D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61D41C4-33B0-EBD5-5A35-467FB922B9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75BAC2-713E-664C-BF68-344238DFA3F6}" type="slidenum">
              <a:rPr lang="en-US" smtClean="0"/>
              <a:t>‹#›</a:t>
            </a:fld>
            <a:endParaRPr lang="en-US"/>
          </a:p>
        </p:txBody>
      </p:sp>
    </p:spTree>
    <p:extLst>
      <p:ext uri="{BB962C8B-B14F-4D97-AF65-F5344CB8AC3E}">
        <p14:creationId xmlns:p14="http://schemas.microsoft.com/office/powerpoint/2010/main" val="8111284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bamboat3/mobileappdev/tree/main/code_3/assets"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appicon.co/"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ocs.flutter.dev/ui/widgets"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dartpad.dev/" TargetMode="Externa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hyperlink" Target="https://api.flutter.dev/flutter/dart-math/"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8" Type="http://schemas.openxmlformats.org/officeDocument/2006/relationships/hyperlink" Target="https://api.flutter.dev/flutter/widgets/StatelessWidget-class.html" TargetMode="External"/><Relationship Id="rId3" Type="http://schemas.openxmlformats.org/officeDocument/2006/relationships/hyperlink" Target="https://api.flutter.dev/flutter/widgets/Expanded-class.html" TargetMode="External"/><Relationship Id="rId7" Type="http://schemas.openxmlformats.org/officeDocument/2006/relationships/hyperlink" Target="https://api.flutter.dev/flutter/widgets/StatefulWidget-class.html"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hyperlink" Target="https://api.flutter.dev/flutter/material/ElevatedButton-class.html" TargetMode="External"/><Relationship Id="rId5" Type="http://schemas.openxmlformats.org/officeDocument/2006/relationships/hyperlink" Target="https://api.flutter.dev/flutter/widgets/Actions-class.html" TargetMode="External"/><Relationship Id="rId4" Type="http://schemas.openxmlformats.org/officeDocument/2006/relationships/hyperlink" Target="https://api.flutter.dev/flutter/widgets/Flexible-clas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EB91F-4E4A-7F4B-45E5-F33FD3964E74}"/>
              </a:ext>
            </a:extLst>
          </p:cNvPr>
          <p:cNvSpPr>
            <a:spLocks noGrp="1"/>
          </p:cNvSpPr>
          <p:nvPr>
            <p:ph type="ctrTitle"/>
          </p:nvPr>
        </p:nvSpPr>
        <p:spPr/>
        <p:txBody>
          <a:bodyPr>
            <a:normAutofit/>
          </a:bodyPr>
          <a:lstStyle/>
          <a:p>
            <a:r>
              <a:rPr lang="en-US" b="1" i="0" dirty="0" err="1">
                <a:effectLst/>
                <a:latin typeface="Metropolis"/>
              </a:rPr>
              <a:t>Dicee</a:t>
            </a:r>
            <a:br>
              <a:rPr lang="en-US" b="1" i="0" dirty="0">
                <a:effectLst/>
                <a:latin typeface="Metropolis"/>
              </a:rPr>
            </a:br>
            <a:r>
              <a:rPr lang="en-US" b="1" i="0" dirty="0">
                <a:effectLst/>
                <a:latin typeface="Metropolis"/>
              </a:rPr>
              <a:t>Building Apps with State</a:t>
            </a:r>
            <a:endParaRPr lang="en-US" dirty="0"/>
          </a:p>
        </p:txBody>
      </p:sp>
      <p:sp>
        <p:nvSpPr>
          <p:cNvPr id="3" name="Subtitle 2">
            <a:extLst>
              <a:ext uri="{FF2B5EF4-FFF2-40B4-BE49-F238E27FC236}">
                <a16:creationId xmlns:a16="http://schemas.microsoft.com/office/drawing/2014/main" id="{CD1C9BE6-888C-9E9E-E3B9-C9A63E6DC1C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811066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DA52E2-235F-7D13-4199-14F16A8D575C}"/>
              </a:ext>
            </a:extLst>
          </p:cNvPr>
          <p:cNvPicPr>
            <a:picLocks noChangeAspect="1"/>
          </p:cNvPicPr>
          <p:nvPr/>
        </p:nvPicPr>
        <p:blipFill>
          <a:blip r:embed="rId2"/>
          <a:srcRect/>
          <a:stretch/>
        </p:blipFill>
        <p:spPr>
          <a:xfrm>
            <a:off x="7267211" y="1617972"/>
            <a:ext cx="4690696" cy="4033830"/>
          </a:xfrm>
          <a:prstGeom prst="rect">
            <a:avLst/>
          </a:prstGeom>
        </p:spPr>
      </p:pic>
      <p:sp>
        <p:nvSpPr>
          <p:cNvPr id="2" name="Title 1">
            <a:extLst>
              <a:ext uri="{FF2B5EF4-FFF2-40B4-BE49-F238E27FC236}">
                <a16:creationId xmlns:a16="http://schemas.microsoft.com/office/drawing/2014/main" id="{F8DFE4BE-4AB0-EF42-1364-AA3BF37676E1}"/>
              </a:ext>
            </a:extLst>
          </p:cNvPr>
          <p:cNvSpPr>
            <a:spLocks noGrp="1"/>
          </p:cNvSpPr>
          <p:nvPr>
            <p:ph type="title"/>
          </p:nvPr>
        </p:nvSpPr>
        <p:spPr/>
        <p:txBody>
          <a:bodyPr/>
          <a:lstStyle/>
          <a:p>
            <a:r>
              <a:rPr lang="en-US" dirty="0"/>
              <a:t>Creating Flutter Apps with Functionality</a:t>
            </a:r>
          </a:p>
        </p:txBody>
      </p:sp>
      <p:sp>
        <p:nvSpPr>
          <p:cNvPr id="3" name="Content Placeholder 2">
            <a:extLst>
              <a:ext uri="{FF2B5EF4-FFF2-40B4-BE49-F238E27FC236}">
                <a16:creationId xmlns:a16="http://schemas.microsoft.com/office/drawing/2014/main" id="{55928090-CEC2-3099-AA72-062BFBB65B4A}"/>
              </a:ext>
            </a:extLst>
          </p:cNvPr>
          <p:cNvSpPr>
            <a:spLocks noGrp="1"/>
          </p:cNvSpPr>
          <p:nvPr>
            <p:ph idx="1"/>
          </p:nvPr>
        </p:nvSpPr>
        <p:spPr>
          <a:xfrm>
            <a:off x="838201" y="1790456"/>
            <a:ext cx="6312876" cy="4351338"/>
          </a:xfrm>
        </p:spPr>
        <p:txBody>
          <a:bodyPr/>
          <a:lstStyle/>
          <a:p>
            <a:r>
              <a:rPr lang="en-US" dirty="0"/>
              <a:t>We will build a Dice rolling app. We learn here how to create apps that only look good but actually also have functionality.</a:t>
            </a:r>
          </a:p>
          <a:p>
            <a:r>
              <a:rPr lang="en-US" dirty="0"/>
              <a:t>Already I uploaded the assets on the </a:t>
            </a:r>
            <a:r>
              <a:rPr lang="en-US" dirty="0" err="1"/>
              <a:t>github</a:t>
            </a:r>
            <a:r>
              <a:rPr lang="en-US" dirty="0"/>
              <a:t>; you may download it from there. </a:t>
            </a:r>
            <a:r>
              <a:rPr lang="en-US" dirty="0">
                <a:hlinkClick r:id="rId3"/>
              </a:rPr>
              <a:t>https://</a:t>
            </a:r>
            <a:r>
              <a:rPr lang="en-US" dirty="0" err="1">
                <a:hlinkClick r:id="rId3"/>
              </a:rPr>
              <a:t>github.com</a:t>
            </a:r>
            <a:r>
              <a:rPr lang="en-US" dirty="0">
                <a:hlinkClick r:id="rId3"/>
              </a:rPr>
              <a:t>/bamboat3/</a:t>
            </a:r>
            <a:r>
              <a:rPr lang="en-US" dirty="0" err="1">
                <a:hlinkClick r:id="rId3"/>
              </a:rPr>
              <a:t>mobileappdev</a:t>
            </a:r>
            <a:r>
              <a:rPr lang="en-US" dirty="0">
                <a:hlinkClick r:id="rId3"/>
              </a:rPr>
              <a:t>/tree/main/code_3/assets</a:t>
            </a:r>
            <a:endParaRPr lang="en-US" dirty="0"/>
          </a:p>
          <a:p>
            <a:endParaRPr lang="en-US" dirty="0"/>
          </a:p>
        </p:txBody>
      </p:sp>
    </p:spTree>
    <p:extLst>
      <p:ext uri="{BB962C8B-B14F-4D97-AF65-F5344CB8AC3E}">
        <p14:creationId xmlns:p14="http://schemas.microsoft.com/office/powerpoint/2010/main" val="2317787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8BF03-E156-BEEA-4463-099DB3F43FEE}"/>
              </a:ext>
            </a:extLst>
          </p:cNvPr>
          <p:cNvSpPr>
            <a:spLocks noGrp="1"/>
          </p:cNvSpPr>
          <p:nvPr>
            <p:ph type="title"/>
          </p:nvPr>
        </p:nvSpPr>
        <p:spPr/>
        <p:txBody>
          <a:bodyPr/>
          <a:lstStyle/>
          <a:p>
            <a:r>
              <a:rPr lang="en-US" dirty="0"/>
              <a:t>Topics in this Lecture</a:t>
            </a:r>
          </a:p>
        </p:txBody>
      </p:sp>
      <p:sp>
        <p:nvSpPr>
          <p:cNvPr id="3" name="Content Placeholder 2">
            <a:extLst>
              <a:ext uri="{FF2B5EF4-FFF2-40B4-BE49-F238E27FC236}">
                <a16:creationId xmlns:a16="http://schemas.microsoft.com/office/drawing/2014/main" id="{26D65359-5D2D-F88B-3D20-E474DFAC1DA3}"/>
              </a:ext>
            </a:extLst>
          </p:cNvPr>
          <p:cNvSpPr>
            <a:spLocks noGrp="1"/>
          </p:cNvSpPr>
          <p:nvPr>
            <p:ph idx="1"/>
          </p:nvPr>
        </p:nvSpPr>
        <p:spPr/>
        <p:txBody>
          <a:bodyPr>
            <a:normAutofit fontScale="85000" lnSpcReduction="20000"/>
          </a:bodyPr>
          <a:lstStyle/>
          <a:p>
            <a:pPr marL="514350" indent="-514350">
              <a:buFont typeface="+mj-lt"/>
              <a:buAutoNum type="arabicPeriod"/>
            </a:pPr>
            <a:r>
              <a:rPr lang="en-US" b="1" dirty="0">
                <a:effectLst/>
                <a:latin typeface="inherit"/>
              </a:rPr>
              <a:t>A Stateful Dice App</a:t>
            </a:r>
          </a:p>
          <a:p>
            <a:pPr marL="514350" indent="-514350">
              <a:buFont typeface="+mj-lt"/>
              <a:buAutoNum type="arabicPeriod"/>
            </a:pPr>
            <a:r>
              <a:rPr lang="en-US" b="1" dirty="0">
                <a:effectLst/>
                <a:latin typeface="inherit"/>
              </a:rPr>
              <a:t>Using the Expanded Widgets for Flexible Layouts</a:t>
            </a:r>
          </a:p>
          <a:p>
            <a:pPr marL="514350" indent="-514350">
              <a:buFont typeface="+mj-lt"/>
              <a:buAutoNum type="arabicPeriod"/>
            </a:pPr>
            <a:r>
              <a:rPr lang="en-US" b="1" dirty="0">
                <a:effectLst/>
                <a:latin typeface="inherit"/>
              </a:rPr>
              <a:t>How to Use Intention Actions</a:t>
            </a:r>
          </a:p>
          <a:p>
            <a:pPr marL="514350" indent="-514350">
              <a:buFont typeface="+mj-lt"/>
              <a:buAutoNum type="arabicPeriod"/>
            </a:pPr>
            <a:r>
              <a:rPr lang="en-US" b="1" i="0" dirty="0">
                <a:latin typeface="inherit"/>
              </a:rPr>
              <a:t>Detecting User Interaction with Flutter Buttons</a:t>
            </a:r>
          </a:p>
          <a:p>
            <a:pPr marL="514350" indent="-514350">
              <a:buFont typeface="+mj-lt"/>
              <a:buAutoNum type="arabicPeriod"/>
            </a:pPr>
            <a:r>
              <a:rPr lang="en-US" b="1" dirty="0">
                <a:effectLst/>
                <a:latin typeface="inherit"/>
              </a:rPr>
              <a:t>Dart Functions – Part – 1</a:t>
            </a:r>
          </a:p>
          <a:p>
            <a:pPr marL="514350" indent="-514350">
              <a:buFont typeface="+mj-lt"/>
              <a:buAutoNum type="arabicPeriod"/>
            </a:pPr>
            <a:r>
              <a:rPr lang="en-US" b="1" i="0" dirty="0">
                <a:latin typeface="inherit"/>
              </a:rPr>
              <a:t>Making the Dice Image Change Reactively</a:t>
            </a:r>
          </a:p>
          <a:p>
            <a:pPr marL="514350" indent="-514350">
              <a:buFont typeface="+mj-lt"/>
              <a:buAutoNum type="arabicPeriod"/>
            </a:pPr>
            <a:r>
              <a:rPr lang="en-US" b="1" dirty="0">
                <a:effectLst/>
                <a:latin typeface="inherit"/>
              </a:rPr>
              <a:t>Dart Variables</a:t>
            </a:r>
          </a:p>
          <a:p>
            <a:pPr marL="514350" indent="-514350">
              <a:buFont typeface="+mj-lt"/>
              <a:buAutoNum type="arabicPeriod"/>
            </a:pPr>
            <a:r>
              <a:rPr lang="en-US" b="1" i="0" dirty="0">
                <a:latin typeface="inherit"/>
              </a:rPr>
              <a:t>Dart Data Types</a:t>
            </a:r>
          </a:p>
          <a:p>
            <a:pPr marL="514350" indent="-514350">
              <a:buFont typeface="+mj-lt"/>
              <a:buAutoNum type="arabicPeriod"/>
            </a:pPr>
            <a:r>
              <a:rPr lang="en-US" b="1" dirty="0">
                <a:effectLst/>
                <a:latin typeface="inherit"/>
              </a:rPr>
              <a:t>Stateful vs Stateless Widgets</a:t>
            </a:r>
          </a:p>
          <a:p>
            <a:pPr marL="514350" indent="-514350">
              <a:buFont typeface="+mj-lt"/>
              <a:buAutoNum type="arabicPeriod"/>
            </a:pPr>
            <a:r>
              <a:rPr lang="en-US" b="1" i="0" dirty="0">
                <a:latin typeface="inherit"/>
              </a:rPr>
              <a:t>Randomizing the Dice </a:t>
            </a:r>
          </a:p>
          <a:p>
            <a:pPr marL="514350" indent="-514350">
              <a:buFont typeface="+mj-lt"/>
              <a:buAutoNum type="arabicPeriod"/>
            </a:pPr>
            <a:r>
              <a:rPr lang="en-US" b="1" i="0" dirty="0">
                <a:latin typeface="inherit"/>
              </a:rPr>
              <a:t>Class Task 2, Class Task 3, Class Task 4</a:t>
            </a:r>
          </a:p>
          <a:p>
            <a:pPr marL="514350" indent="-514350">
              <a:buFont typeface="+mj-lt"/>
              <a:buAutoNum type="arabicPeriod"/>
            </a:pPr>
            <a:endParaRPr lang="en-US" b="0" i="0" dirty="0">
              <a:solidFill>
                <a:srgbClr val="212338"/>
              </a:solidFill>
              <a:effectLst/>
              <a:latin typeface="Metropolis"/>
            </a:endParaRPr>
          </a:p>
        </p:txBody>
      </p:sp>
    </p:spTree>
    <p:extLst>
      <p:ext uri="{BB962C8B-B14F-4D97-AF65-F5344CB8AC3E}">
        <p14:creationId xmlns:p14="http://schemas.microsoft.com/office/powerpoint/2010/main" val="2859792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9F7D-5FD1-8A48-C138-863D8AE0039A}"/>
              </a:ext>
            </a:extLst>
          </p:cNvPr>
          <p:cNvSpPr>
            <a:spLocks noGrp="1"/>
          </p:cNvSpPr>
          <p:nvPr>
            <p:ph type="title"/>
          </p:nvPr>
        </p:nvSpPr>
        <p:spPr/>
        <p:txBody>
          <a:bodyPr>
            <a:normAutofit/>
          </a:bodyPr>
          <a:lstStyle/>
          <a:p>
            <a:pPr marL="514350" indent="-514350">
              <a:buFont typeface="+mj-lt"/>
              <a:buAutoNum type="arabicPeriod"/>
            </a:pPr>
            <a:r>
              <a:rPr lang="en-US" b="1" dirty="0">
                <a:effectLst/>
                <a:latin typeface="inherit"/>
              </a:rPr>
              <a:t>A Stateful Dice App</a:t>
            </a:r>
          </a:p>
        </p:txBody>
      </p:sp>
      <p:sp>
        <p:nvSpPr>
          <p:cNvPr id="3" name="Content Placeholder 2">
            <a:extLst>
              <a:ext uri="{FF2B5EF4-FFF2-40B4-BE49-F238E27FC236}">
                <a16:creationId xmlns:a16="http://schemas.microsoft.com/office/drawing/2014/main" id="{DF122E04-C2F6-B385-5325-C99E62B67B9A}"/>
              </a:ext>
            </a:extLst>
          </p:cNvPr>
          <p:cNvSpPr>
            <a:spLocks noGrp="1"/>
          </p:cNvSpPr>
          <p:nvPr>
            <p:ph idx="1"/>
          </p:nvPr>
        </p:nvSpPr>
        <p:spPr/>
        <p:txBody>
          <a:bodyPr>
            <a:normAutofit fontScale="85000" lnSpcReduction="20000"/>
          </a:bodyPr>
          <a:lstStyle/>
          <a:p>
            <a:r>
              <a:rPr lang="en-US" dirty="0"/>
              <a:t>Create new Flutter Project in Android Studio named as </a:t>
            </a:r>
            <a:r>
              <a:rPr lang="en-US" dirty="0" err="1"/>
              <a:t>dice_app</a:t>
            </a:r>
            <a:endParaRPr lang="en-US" dirty="0"/>
          </a:p>
          <a:p>
            <a:r>
              <a:rPr lang="en-US" dirty="0"/>
              <a:t>Create </a:t>
            </a:r>
            <a:r>
              <a:rPr lang="en-US" dirty="0" err="1"/>
              <a:t>StateLess</a:t>
            </a:r>
            <a:r>
              <a:rPr lang="en-US" dirty="0"/>
              <a:t> class as we did in the previous lecture using shortcut </a:t>
            </a:r>
            <a:r>
              <a:rPr lang="en-US" dirty="0" err="1"/>
              <a:t>stless</a:t>
            </a:r>
            <a:r>
              <a:rPr lang="en-US" dirty="0"/>
              <a:t> + hit enter</a:t>
            </a:r>
          </a:p>
          <a:p>
            <a:r>
              <a:rPr lang="en-US" dirty="0"/>
              <a:t>Name that class as </a:t>
            </a:r>
            <a:r>
              <a:rPr lang="en-US" dirty="0" err="1"/>
              <a:t>DicePage</a:t>
            </a:r>
            <a:r>
              <a:rPr lang="en-US" dirty="0"/>
              <a:t>, as well as call it in the above </a:t>
            </a:r>
            <a:r>
              <a:rPr lang="en-US" dirty="0" err="1"/>
              <a:t>runApp</a:t>
            </a:r>
            <a:r>
              <a:rPr lang="en-US" dirty="0"/>
              <a:t> -&gt; </a:t>
            </a:r>
            <a:r>
              <a:rPr lang="en-US" dirty="0" err="1"/>
              <a:t>MaterialApp</a:t>
            </a:r>
            <a:r>
              <a:rPr lang="en-US" dirty="0"/>
              <a:t> -&gt; Scaffold -&gt;</a:t>
            </a:r>
            <a:r>
              <a:rPr lang="en-US" dirty="0" err="1"/>
              <a:t>appBar</a:t>
            </a:r>
            <a:r>
              <a:rPr lang="en-US" dirty="0"/>
              <a:t>: </a:t>
            </a:r>
            <a:r>
              <a:rPr lang="en-US" dirty="0" err="1"/>
              <a:t>AppBar</a:t>
            </a:r>
            <a:r>
              <a:rPr lang="en-US" dirty="0"/>
              <a:t>(title: Text(‘</a:t>
            </a:r>
            <a:r>
              <a:rPr lang="en-US" dirty="0" err="1"/>
              <a:t>Dicee</a:t>
            </a:r>
            <a:r>
              <a:rPr lang="en-US" dirty="0"/>
              <a:t>’),</a:t>
            </a:r>
            <a:r>
              <a:rPr lang="en-US" dirty="0" err="1"/>
              <a:t>backgroundColor</a:t>
            </a:r>
            <a:r>
              <a:rPr lang="en-US" dirty="0"/>
              <a:t>: </a:t>
            </a:r>
            <a:r>
              <a:rPr lang="en-US" dirty="0" err="1"/>
              <a:t>Colors.red</a:t>
            </a:r>
            <a:r>
              <a:rPr lang="en-US" dirty="0"/>
              <a:t> , body: </a:t>
            </a:r>
            <a:r>
              <a:rPr lang="en-US" dirty="0" err="1"/>
              <a:t>DicePage</a:t>
            </a:r>
            <a:r>
              <a:rPr lang="en-US" dirty="0"/>
              <a:t>()</a:t>
            </a:r>
          </a:p>
          <a:p>
            <a:r>
              <a:rPr lang="en-US" dirty="0"/>
              <a:t>Add Images and update </a:t>
            </a:r>
            <a:r>
              <a:rPr lang="en-US" dirty="0" err="1"/>
              <a:t>pubspec.yaml</a:t>
            </a:r>
            <a:r>
              <a:rPr lang="en-US" dirty="0"/>
              <a:t> as we did in the previous lecture</a:t>
            </a:r>
          </a:p>
          <a:p>
            <a:r>
              <a:rPr lang="en-US" dirty="0"/>
              <a:t>After all this hit pub update</a:t>
            </a:r>
          </a:p>
          <a:p>
            <a:r>
              <a:rPr lang="en-US" dirty="0"/>
              <a:t>Extra-Hint: if on </a:t>
            </a:r>
            <a:r>
              <a:rPr lang="en-US" dirty="0" err="1"/>
              <a:t>ctrl+save</a:t>
            </a:r>
            <a:r>
              <a:rPr lang="en-US" dirty="0"/>
              <a:t> the code is not formatting then open </a:t>
            </a:r>
            <a:r>
              <a:rPr lang="en-US" dirty="0" err="1"/>
              <a:t>analysis_options.yaml</a:t>
            </a:r>
            <a:r>
              <a:rPr lang="en-US" dirty="0"/>
              <a:t> -&gt; formatter:</a:t>
            </a:r>
          </a:p>
          <a:p>
            <a:pPr marL="3657600" lvl="8" indent="0">
              <a:buNone/>
            </a:pPr>
            <a:r>
              <a:rPr lang="en-US" sz="2800" dirty="0"/>
              <a:t>      </a:t>
            </a:r>
            <a:r>
              <a:rPr lang="en-US" sz="2800" dirty="0" err="1">
                <a:solidFill>
                  <a:schemeClr val="bg1"/>
                </a:solidFill>
              </a:rPr>
              <a:t>trailing_commas</a:t>
            </a:r>
            <a:r>
              <a:rPr lang="en-US" sz="2800" dirty="0">
                <a:solidFill>
                  <a:schemeClr val="bg1"/>
                </a:solidFill>
              </a:rPr>
              <a:t>: preserve</a:t>
            </a:r>
          </a:p>
          <a:p>
            <a:pPr marL="3657600" lvl="8" indent="0">
              <a:buNone/>
            </a:pPr>
            <a:endParaRPr lang="en-US" sz="2800" dirty="0">
              <a:solidFill>
                <a:schemeClr val="bg1"/>
              </a:solidFill>
            </a:endParaRPr>
          </a:p>
          <a:p>
            <a:pPr marL="3657600" lvl="8" indent="0">
              <a:buNone/>
            </a:pPr>
            <a:r>
              <a:rPr lang="en-US" sz="2800" dirty="0">
                <a:solidFill>
                  <a:schemeClr val="bg1"/>
                </a:solidFill>
              </a:rPr>
              <a:t>TRY TO RUN ON EMULATOR</a:t>
            </a:r>
          </a:p>
          <a:p>
            <a:pPr marL="3657600" lvl="8" indent="0">
              <a:buNone/>
            </a:pPr>
            <a:endParaRPr lang="en-US" dirty="0"/>
          </a:p>
          <a:p>
            <a:endParaRPr lang="en-US" dirty="0"/>
          </a:p>
        </p:txBody>
      </p:sp>
    </p:spTree>
    <p:extLst>
      <p:ext uri="{BB962C8B-B14F-4D97-AF65-F5344CB8AC3E}">
        <p14:creationId xmlns:p14="http://schemas.microsoft.com/office/powerpoint/2010/main" val="1912953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29ED2-D76D-8E07-CC54-4B04884422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E73021-9E1B-35B7-028B-D7EF88B0A181}"/>
              </a:ext>
            </a:extLst>
          </p:cNvPr>
          <p:cNvSpPr>
            <a:spLocks noGrp="1"/>
          </p:cNvSpPr>
          <p:nvPr>
            <p:ph type="title"/>
          </p:nvPr>
        </p:nvSpPr>
        <p:spPr/>
        <p:txBody>
          <a:bodyPr>
            <a:normAutofit/>
          </a:bodyPr>
          <a:lstStyle/>
          <a:p>
            <a:pPr marL="514350" indent="-514350">
              <a:buFont typeface="+mj-lt"/>
              <a:buAutoNum type="arabicPeriod"/>
            </a:pPr>
            <a:r>
              <a:rPr lang="en-US" b="1" dirty="0">
                <a:effectLst/>
                <a:latin typeface="inherit"/>
              </a:rPr>
              <a:t>A Stateful Dice App – Change App Icon</a:t>
            </a:r>
          </a:p>
        </p:txBody>
      </p:sp>
      <p:sp>
        <p:nvSpPr>
          <p:cNvPr id="3" name="Content Placeholder 2">
            <a:extLst>
              <a:ext uri="{FF2B5EF4-FFF2-40B4-BE49-F238E27FC236}">
                <a16:creationId xmlns:a16="http://schemas.microsoft.com/office/drawing/2014/main" id="{1C0B4703-A11F-11B0-D69A-8C4ECB5A4C6E}"/>
              </a:ext>
            </a:extLst>
          </p:cNvPr>
          <p:cNvSpPr>
            <a:spLocks noGrp="1"/>
          </p:cNvSpPr>
          <p:nvPr>
            <p:ph idx="1"/>
          </p:nvPr>
        </p:nvSpPr>
        <p:spPr/>
        <p:txBody>
          <a:bodyPr>
            <a:normAutofit fontScale="92500" lnSpcReduction="20000"/>
          </a:bodyPr>
          <a:lstStyle/>
          <a:p>
            <a:pPr marL="3657600" lvl="8" indent="0">
              <a:buNone/>
            </a:pPr>
            <a:endParaRPr lang="en-US" dirty="0"/>
          </a:p>
          <a:p>
            <a:r>
              <a:rPr lang="en-US" dirty="0"/>
              <a:t>By default you may see app icon as </a:t>
            </a:r>
          </a:p>
          <a:p>
            <a:r>
              <a:rPr lang="en-US" dirty="0"/>
              <a:t>Change it to</a:t>
            </a:r>
          </a:p>
          <a:p>
            <a:endParaRPr lang="en-US" dirty="0"/>
          </a:p>
          <a:p>
            <a:r>
              <a:rPr lang="en-US" dirty="0"/>
              <a:t>For that first download the </a:t>
            </a:r>
            <a:r>
              <a:rPr lang="en-US" dirty="0" err="1"/>
              <a:t>png</a:t>
            </a:r>
            <a:r>
              <a:rPr lang="en-US" dirty="0"/>
              <a:t> approx. 1024 x 1024 size, and visit at </a:t>
            </a:r>
            <a:r>
              <a:rPr lang="en-US" dirty="0">
                <a:hlinkClick r:id="rId3">
                  <a:extLst>
                    <a:ext uri="{A12FA001-AC4F-418D-AE19-62706E023703}">
                      <ahyp:hlinkClr xmlns:ahyp="http://schemas.microsoft.com/office/drawing/2018/hyperlinkcolor" val="tx"/>
                    </a:ext>
                  </a:extLst>
                </a:hlinkClick>
              </a:rPr>
              <a:t>https://www.appicon.co/</a:t>
            </a:r>
            <a:r>
              <a:rPr lang="en-US" dirty="0"/>
              <a:t> </a:t>
            </a:r>
          </a:p>
          <a:p>
            <a:r>
              <a:rPr lang="en-US" dirty="0"/>
              <a:t>Now drag &amp; drop the image on it; it will generate zip file containing icons for are android and </a:t>
            </a:r>
            <a:r>
              <a:rPr lang="en-US" dirty="0" err="1"/>
              <a:t>iOs</a:t>
            </a:r>
            <a:r>
              <a:rPr lang="en-US" dirty="0"/>
              <a:t> (iPhone).</a:t>
            </a:r>
          </a:p>
          <a:p>
            <a:r>
              <a:rPr lang="en-US" dirty="0"/>
              <a:t>Get back to Android-Studio, navigate to the Android folder -&gt;app-&gt;</a:t>
            </a:r>
            <a:r>
              <a:rPr lang="en-US" dirty="0" err="1"/>
              <a:t>src</a:t>
            </a:r>
            <a:r>
              <a:rPr lang="en-US" dirty="0"/>
              <a:t>-&gt;main-&gt;res (reveal it in the file explore by right click)</a:t>
            </a:r>
          </a:p>
          <a:p>
            <a:r>
              <a:rPr lang="en-US" dirty="0"/>
              <a:t>Similarly, open </a:t>
            </a:r>
            <a:r>
              <a:rPr lang="en-US" dirty="0" err="1"/>
              <a:t>ios</a:t>
            </a:r>
            <a:r>
              <a:rPr lang="en-US" dirty="0"/>
              <a:t> -&gt; runner -&gt; </a:t>
            </a:r>
            <a:r>
              <a:rPr lang="en-US" dirty="0" err="1"/>
              <a:t>Assets.xcassets</a:t>
            </a:r>
            <a:endParaRPr lang="en-US" dirty="0"/>
          </a:p>
          <a:p>
            <a:endParaRPr lang="en-US" dirty="0"/>
          </a:p>
        </p:txBody>
      </p:sp>
      <p:pic>
        <p:nvPicPr>
          <p:cNvPr id="4" name="Picture 3">
            <a:extLst>
              <a:ext uri="{FF2B5EF4-FFF2-40B4-BE49-F238E27FC236}">
                <a16:creationId xmlns:a16="http://schemas.microsoft.com/office/drawing/2014/main" id="{49260D63-86DB-BC12-5C6A-18ADEBBF9524}"/>
              </a:ext>
            </a:extLst>
          </p:cNvPr>
          <p:cNvPicPr>
            <a:picLocks noChangeAspect="1"/>
          </p:cNvPicPr>
          <p:nvPr/>
        </p:nvPicPr>
        <p:blipFill>
          <a:blip r:embed="rId4"/>
          <a:stretch>
            <a:fillRect/>
          </a:stretch>
        </p:blipFill>
        <p:spPr>
          <a:xfrm>
            <a:off x="6777201" y="1963682"/>
            <a:ext cx="571500" cy="660400"/>
          </a:xfrm>
          <a:prstGeom prst="rect">
            <a:avLst/>
          </a:prstGeom>
        </p:spPr>
      </p:pic>
      <p:pic>
        <p:nvPicPr>
          <p:cNvPr id="5" name="Picture 4">
            <a:extLst>
              <a:ext uri="{FF2B5EF4-FFF2-40B4-BE49-F238E27FC236}">
                <a16:creationId xmlns:a16="http://schemas.microsoft.com/office/drawing/2014/main" id="{F1165C06-BDC2-1005-4D74-F9F58FDDF929}"/>
              </a:ext>
            </a:extLst>
          </p:cNvPr>
          <p:cNvPicPr>
            <a:picLocks noChangeAspect="1"/>
          </p:cNvPicPr>
          <p:nvPr/>
        </p:nvPicPr>
        <p:blipFill>
          <a:blip r:embed="rId5"/>
          <a:srcRect/>
          <a:stretch/>
        </p:blipFill>
        <p:spPr>
          <a:xfrm>
            <a:off x="3093324" y="2444311"/>
            <a:ext cx="984689" cy="984689"/>
          </a:xfrm>
          <a:prstGeom prst="rect">
            <a:avLst/>
          </a:prstGeom>
        </p:spPr>
      </p:pic>
    </p:spTree>
    <p:extLst>
      <p:ext uri="{BB962C8B-B14F-4D97-AF65-F5344CB8AC3E}">
        <p14:creationId xmlns:p14="http://schemas.microsoft.com/office/powerpoint/2010/main" val="1957701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A775D-C70F-018F-CDA6-5DBC3D771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22E46F-1A6A-0567-EB89-563FE1CE414E}"/>
              </a:ext>
            </a:extLst>
          </p:cNvPr>
          <p:cNvSpPr>
            <a:spLocks noGrp="1"/>
          </p:cNvSpPr>
          <p:nvPr>
            <p:ph type="title"/>
          </p:nvPr>
        </p:nvSpPr>
        <p:spPr/>
        <p:txBody>
          <a:bodyPr>
            <a:normAutofit/>
          </a:bodyPr>
          <a:lstStyle/>
          <a:p>
            <a:r>
              <a:rPr lang="en-US" b="1" dirty="0">
                <a:effectLst/>
                <a:latin typeface="inherit"/>
              </a:rPr>
              <a:t>2.   Using the Expanded Widget for Flexible Layouts</a:t>
            </a:r>
            <a:endParaRPr lang="en-US" dirty="0"/>
          </a:p>
        </p:txBody>
      </p:sp>
      <p:sp>
        <p:nvSpPr>
          <p:cNvPr id="4" name="Content Placeholder 3">
            <a:extLst>
              <a:ext uri="{FF2B5EF4-FFF2-40B4-BE49-F238E27FC236}">
                <a16:creationId xmlns:a16="http://schemas.microsoft.com/office/drawing/2014/main" id="{BA1BC895-E9A3-836E-E506-0DE37E478BEF}"/>
              </a:ext>
            </a:extLst>
          </p:cNvPr>
          <p:cNvSpPr>
            <a:spLocks noGrp="1"/>
          </p:cNvSpPr>
          <p:nvPr>
            <p:ph sz="half" idx="1"/>
          </p:nvPr>
        </p:nvSpPr>
        <p:spPr>
          <a:xfrm>
            <a:off x="838200" y="1825625"/>
            <a:ext cx="4722137" cy="4911506"/>
          </a:xfrm>
        </p:spPr>
        <p:txBody>
          <a:bodyPr>
            <a:normAutofit fontScale="77500" lnSpcReduction="20000"/>
          </a:bodyPr>
          <a:lstStyle/>
          <a:p>
            <a:r>
              <a:rPr lang="en-US" dirty="0"/>
              <a:t>App Anatomy</a:t>
            </a:r>
          </a:p>
          <a:p>
            <a:r>
              <a:rPr lang="en-US" dirty="0"/>
              <a:t>We need to build according to this widgets tree</a:t>
            </a:r>
          </a:p>
          <a:p>
            <a:r>
              <a:rPr lang="en-US" dirty="0"/>
              <a:t>Remove container from the scaffold; as we need multiple children we use row.</a:t>
            </a:r>
          </a:p>
          <a:p>
            <a:r>
              <a:rPr lang="en-US" dirty="0"/>
              <a:t>If you notice Row have two children Image &amp; </a:t>
            </a:r>
            <a:r>
              <a:rPr lang="en-US" dirty="0" err="1"/>
              <a:t>Image,by</a:t>
            </a:r>
            <a:r>
              <a:rPr lang="en-US" dirty="0"/>
              <a:t> default image is too large – overflow</a:t>
            </a:r>
          </a:p>
          <a:p>
            <a:r>
              <a:rPr lang="en-US" dirty="0"/>
              <a:t>To fit the widget into the screen we use Expanded class, wrap your Image into Expanded</a:t>
            </a:r>
          </a:p>
          <a:p>
            <a:r>
              <a:rPr lang="en-US" dirty="0"/>
              <a:t>Expanded widget take whole space of screen if in the Row then horizontal else in Column -&gt; vertical</a:t>
            </a:r>
          </a:p>
        </p:txBody>
      </p:sp>
      <p:pic>
        <p:nvPicPr>
          <p:cNvPr id="10" name="Content Placeholder 9">
            <a:extLst>
              <a:ext uri="{FF2B5EF4-FFF2-40B4-BE49-F238E27FC236}">
                <a16:creationId xmlns:a16="http://schemas.microsoft.com/office/drawing/2014/main" id="{381AE666-D18F-E4BF-F3BB-5E37F91C9626}"/>
              </a:ext>
            </a:extLst>
          </p:cNvPr>
          <p:cNvPicPr>
            <a:picLocks noGrp="1" noChangeAspect="1"/>
          </p:cNvPicPr>
          <p:nvPr>
            <p:ph sz="half" idx="2"/>
          </p:nvPr>
        </p:nvPicPr>
        <p:blipFill>
          <a:blip r:embed="rId2"/>
          <a:stretch>
            <a:fillRect/>
          </a:stretch>
        </p:blipFill>
        <p:spPr>
          <a:xfrm>
            <a:off x="5560337" y="1690688"/>
            <a:ext cx="6231972" cy="4331740"/>
          </a:xfrm>
          <a:prstGeom prst="rect">
            <a:avLst/>
          </a:prstGeom>
        </p:spPr>
      </p:pic>
    </p:spTree>
    <p:extLst>
      <p:ext uri="{BB962C8B-B14F-4D97-AF65-F5344CB8AC3E}">
        <p14:creationId xmlns:p14="http://schemas.microsoft.com/office/powerpoint/2010/main" val="3073760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AA82B-F5CA-6B33-CE26-9CF7E2C52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36EA30-68DA-AB22-3A71-AF4410C7F6B4}"/>
              </a:ext>
            </a:extLst>
          </p:cNvPr>
          <p:cNvSpPr>
            <a:spLocks noGrp="1"/>
          </p:cNvSpPr>
          <p:nvPr>
            <p:ph type="title"/>
          </p:nvPr>
        </p:nvSpPr>
        <p:spPr/>
        <p:txBody>
          <a:bodyPr>
            <a:normAutofit/>
          </a:bodyPr>
          <a:lstStyle/>
          <a:p>
            <a:r>
              <a:rPr lang="en-US" b="1" dirty="0">
                <a:effectLst/>
                <a:latin typeface="inherit"/>
              </a:rPr>
              <a:t>2.   Using the Expanded Widget for Flexible Layouts</a:t>
            </a:r>
            <a:endParaRPr lang="en-US" dirty="0"/>
          </a:p>
        </p:txBody>
      </p:sp>
      <p:sp>
        <p:nvSpPr>
          <p:cNvPr id="4" name="Content Placeholder 3">
            <a:extLst>
              <a:ext uri="{FF2B5EF4-FFF2-40B4-BE49-F238E27FC236}">
                <a16:creationId xmlns:a16="http://schemas.microsoft.com/office/drawing/2014/main" id="{02B40EA2-6F07-8D96-D759-B66BC99B2CC5}"/>
              </a:ext>
            </a:extLst>
          </p:cNvPr>
          <p:cNvSpPr>
            <a:spLocks noGrp="1"/>
          </p:cNvSpPr>
          <p:nvPr>
            <p:ph sz="half" idx="1"/>
          </p:nvPr>
        </p:nvSpPr>
        <p:spPr>
          <a:xfrm>
            <a:off x="838200" y="1825625"/>
            <a:ext cx="4722137" cy="4911506"/>
          </a:xfrm>
        </p:spPr>
        <p:txBody>
          <a:bodyPr>
            <a:normAutofit fontScale="85000" lnSpcReduction="20000"/>
          </a:bodyPr>
          <a:lstStyle/>
          <a:p>
            <a:r>
              <a:rPr lang="en-US" dirty="0"/>
              <a:t>As we add one more widget the Expanded class manage itself to take available space but remain in the same horizontal axis</a:t>
            </a:r>
          </a:p>
          <a:p>
            <a:r>
              <a:rPr lang="en-US" dirty="0"/>
              <a:t>There is an attribute ‘flex’ in the Expanded class which tell the widget to cover the space extra if required.</a:t>
            </a:r>
          </a:p>
          <a:p>
            <a:r>
              <a:rPr lang="en-US" dirty="0"/>
              <a:t>E.g. first image takes twice space of the second image.</a:t>
            </a:r>
          </a:p>
          <a:p>
            <a:r>
              <a:rPr lang="en-US" dirty="0"/>
              <a:t>In our case we don’t need flex, because we need both dice of same size.</a:t>
            </a:r>
          </a:p>
          <a:p>
            <a:r>
              <a:rPr lang="en-US" dirty="0"/>
              <a:t>Short way to add Image widget, we can add it as child of </a:t>
            </a:r>
            <a:r>
              <a:rPr lang="en-US" dirty="0" err="1"/>
              <a:t>Expanaded</a:t>
            </a:r>
            <a:r>
              <a:rPr lang="en-US" dirty="0"/>
              <a:t> widget.</a:t>
            </a:r>
          </a:p>
        </p:txBody>
      </p:sp>
      <p:pic>
        <p:nvPicPr>
          <p:cNvPr id="10" name="Content Placeholder 9">
            <a:extLst>
              <a:ext uri="{FF2B5EF4-FFF2-40B4-BE49-F238E27FC236}">
                <a16:creationId xmlns:a16="http://schemas.microsoft.com/office/drawing/2014/main" id="{F7F53BD0-DA91-CD09-6F80-E64357A5BFF7}"/>
              </a:ext>
            </a:extLst>
          </p:cNvPr>
          <p:cNvPicPr>
            <a:picLocks noGrp="1" noChangeAspect="1"/>
          </p:cNvPicPr>
          <p:nvPr>
            <p:ph sz="half" idx="2"/>
          </p:nvPr>
        </p:nvPicPr>
        <p:blipFill>
          <a:blip r:embed="rId2"/>
          <a:stretch>
            <a:fillRect/>
          </a:stretch>
        </p:blipFill>
        <p:spPr>
          <a:xfrm>
            <a:off x="5560337" y="1690688"/>
            <a:ext cx="6231972" cy="4331740"/>
          </a:xfrm>
          <a:prstGeom prst="rect">
            <a:avLst/>
          </a:prstGeom>
        </p:spPr>
      </p:pic>
    </p:spTree>
    <p:extLst>
      <p:ext uri="{BB962C8B-B14F-4D97-AF65-F5344CB8AC3E}">
        <p14:creationId xmlns:p14="http://schemas.microsoft.com/office/powerpoint/2010/main" val="3585551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3637B-7F3C-CAA4-10F5-0832552798E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85A48B4-47E8-6E86-F8CC-0B0B3A1F4DCF}"/>
              </a:ext>
            </a:extLst>
          </p:cNvPr>
          <p:cNvPicPr>
            <a:picLocks noChangeAspect="1"/>
          </p:cNvPicPr>
          <p:nvPr/>
        </p:nvPicPr>
        <p:blipFill>
          <a:blip r:embed="rId2"/>
          <a:stretch>
            <a:fillRect/>
          </a:stretch>
        </p:blipFill>
        <p:spPr>
          <a:xfrm>
            <a:off x="6175265" y="2917277"/>
            <a:ext cx="5054600" cy="3314700"/>
          </a:xfrm>
          <a:prstGeom prst="rect">
            <a:avLst/>
          </a:prstGeom>
        </p:spPr>
      </p:pic>
      <p:sp>
        <p:nvSpPr>
          <p:cNvPr id="2" name="Title 1">
            <a:extLst>
              <a:ext uri="{FF2B5EF4-FFF2-40B4-BE49-F238E27FC236}">
                <a16:creationId xmlns:a16="http://schemas.microsoft.com/office/drawing/2014/main" id="{E8128042-8AA0-0996-1926-6A2ECD4F3D3F}"/>
              </a:ext>
            </a:extLst>
          </p:cNvPr>
          <p:cNvSpPr>
            <a:spLocks noGrp="1"/>
          </p:cNvSpPr>
          <p:nvPr>
            <p:ph type="title"/>
          </p:nvPr>
        </p:nvSpPr>
        <p:spPr/>
        <p:txBody>
          <a:bodyPr>
            <a:normAutofit/>
          </a:bodyPr>
          <a:lstStyle/>
          <a:p>
            <a:r>
              <a:rPr lang="en-US" b="1" dirty="0">
                <a:effectLst/>
                <a:latin typeface="inherit"/>
              </a:rPr>
              <a:t>3. How to Use Intention Actions</a:t>
            </a:r>
            <a:endParaRPr lang="en-US" dirty="0"/>
          </a:p>
        </p:txBody>
      </p:sp>
      <p:sp>
        <p:nvSpPr>
          <p:cNvPr id="4" name="Content Placeholder 3">
            <a:extLst>
              <a:ext uri="{FF2B5EF4-FFF2-40B4-BE49-F238E27FC236}">
                <a16:creationId xmlns:a16="http://schemas.microsoft.com/office/drawing/2014/main" id="{AC1CC01F-4E00-D88C-D199-94280666EE35}"/>
              </a:ext>
            </a:extLst>
          </p:cNvPr>
          <p:cNvSpPr>
            <a:spLocks noGrp="1"/>
          </p:cNvSpPr>
          <p:nvPr>
            <p:ph sz="half" idx="1"/>
          </p:nvPr>
        </p:nvSpPr>
        <p:spPr>
          <a:xfrm>
            <a:off x="838200" y="1825625"/>
            <a:ext cx="4722137" cy="4911506"/>
          </a:xfrm>
        </p:spPr>
        <p:txBody>
          <a:bodyPr>
            <a:normAutofit/>
          </a:bodyPr>
          <a:lstStyle/>
          <a:p>
            <a:r>
              <a:rPr lang="en-US" dirty="0"/>
              <a:t>If you notice dice images are in center and there are space in-between them.</a:t>
            </a:r>
          </a:p>
          <a:p>
            <a:r>
              <a:rPr lang="en-US" dirty="0"/>
              <a:t>Insert Center Widget before Row, one way is to use shortcut key </a:t>
            </a:r>
            <a:r>
              <a:rPr lang="en-US" dirty="0" err="1"/>
              <a:t>Alt+enter</a:t>
            </a:r>
            <a:r>
              <a:rPr lang="en-US" dirty="0"/>
              <a:t> it shows the wrap widget option.</a:t>
            </a:r>
          </a:p>
          <a:p>
            <a:r>
              <a:rPr lang="en-US" dirty="0"/>
              <a:t>Now for the space wrap Widget around padding: 16px</a:t>
            </a:r>
          </a:p>
        </p:txBody>
      </p:sp>
      <p:pic>
        <p:nvPicPr>
          <p:cNvPr id="6" name="Content Placeholder 5">
            <a:extLst>
              <a:ext uri="{FF2B5EF4-FFF2-40B4-BE49-F238E27FC236}">
                <a16:creationId xmlns:a16="http://schemas.microsoft.com/office/drawing/2014/main" id="{35FD290D-E306-0DE3-85C8-FEA7934A39BB}"/>
              </a:ext>
            </a:extLst>
          </p:cNvPr>
          <p:cNvPicPr>
            <a:picLocks noGrp="1" noChangeAspect="1"/>
          </p:cNvPicPr>
          <p:nvPr>
            <p:ph sz="half" idx="2"/>
          </p:nvPr>
        </p:nvPicPr>
        <p:blipFill>
          <a:blip r:embed="rId3"/>
          <a:srcRect/>
          <a:stretch/>
        </p:blipFill>
        <p:spPr>
          <a:xfrm>
            <a:off x="9173391" y="816632"/>
            <a:ext cx="2729162" cy="2346982"/>
          </a:xfrm>
          <a:prstGeom prst="rect">
            <a:avLst/>
          </a:prstGeom>
        </p:spPr>
      </p:pic>
    </p:spTree>
    <p:extLst>
      <p:ext uri="{BB962C8B-B14F-4D97-AF65-F5344CB8AC3E}">
        <p14:creationId xmlns:p14="http://schemas.microsoft.com/office/powerpoint/2010/main" val="1625018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77BDB-E067-9591-7B72-1954E3E22A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736D3C-FA81-0373-2293-270B47B67F54}"/>
              </a:ext>
            </a:extLst>
          </p:cNvPr>
          <p:cNvSpPr>
            <a:spLocks noGrp="1"/>
          </p:cNvSpPr>
          <p:nvPr>
            <p:ph type="title"/>
          </p:nvPr>
        </p:nvSpPr>
        <p:spPr/>
        <p:txBody>
          <a:bodyPr>
            <a:normAutofit/>
          </a:bodyPr>
          <a:lstStyle/>
          <a:p>
            <a:r>
              <a:rPr lang="en-US" b="1" dirty="0">
                <a:effectLst/>
                <a:latin typeface="inherit"/>
              </a:rPr>
              <a:t>4.   Detecting User Interaction with Flutter Buttons</a:t>
            </a:r>
            <a:endParaRPr lang="en-US" dirty="0"/>
          </a:p>
        </p:txBody>
      </p:sp>
      <p:sp>
        <p:nvSpPr>
          <p:cNvPr id="4" name="Content Placeholder 3">
            <a:extLst>
              <a:ext uri="{FF2B5EF4-FFF2-40B4-BE49-F238E27FC236}">
                <a16:creationId xmlns:a16="http://schemas.microsoft.com/office/drawing/2014/main" id="{89BA89EA-4688-EE32-47E7-E797E4B1B4FA}"/>
              </a:ext>
            </a:extLst>
          </p:cNvPr>
          <p:cNvSpPr>
            <a:spLocks noGrp="1"/>
          </p:cNvSpPr>
          <p:nvPr>
            <p:ph sz="half" idx="1"/>
          </p:nvPr>
        </p:nvSpPr>
        <p:spPr>
          <a:xfrm>
            <a:off x="838200" y="1825625"/>
            <a:ext cx="6592614" cy="4911506"/>
          </a:xfrm>
        </p:spPr>
        <p:txBody>
          <a:bodyPr>
            <a:normAutofit/>
          </a:bodyPr>
          <a:lstStyle/>
          <a:p>
            <a:r>
              <a:rPr lang="en-US" dirty="0"/>
              <a:t>Now add functionality</a:t>
            </a:r>
          </a:p>
          <a:p>
            <a:r>
              <a:rPr lang="en-US" dirty="0"/>
              <a:t>Need to detect the user click on the image; for that we use button </a:t>
            </a:r>
          </a:p>
          <a:p>
            <a:pPr marL="0" indent="0">
              <a:buNone/>
            </a:pPr>
            <a:r>
              <a:rPr lang="en-US" dirty="0"/>
              <a:t>Visit doc (</a:t>
            </a:r>
            <a:r>
              <a:rPr lang="en-US" dirty="0">
                <a:hlinkClick r:id="rId2">
                  <a:extLst>
                    <a:ext uri="{A12FA001-AC4F-418D-AE19-62706E023703}">
                      <ahyp:hlinkClr xmlns:ahyp="http://schemas.microsoft.com/office/drawing/2018/hyperlinkcolor" val="tx"/>
                    </a:ext>
                  </a:extLst>
                </a:hlinkClick>
              </a:rPr>
              <a:t>https://</a:t>
            </a:r>
            <a:r>
              <a:rPr lang="en-US" dirty="0" err="1">
                <a:hlinkClick r:id="rId2">
                  <a:extLst>
                    <a:ext uri="{A12FA001-AC4F-418D-AE19-62706E023703}">
                      <ahyp:hlinkClr xmlns:ahyp="http://schemas.microsoft.com/office/drawing/2018/hyperlinkcolor" val="tx"/>
                    </a:ext>
                  </a:extLst>
                </a:hlinkClick>
              </a:rPr>
              <a:t>docs.flutter.dev</a:t>
            </a:r>
            <a:r>
              <a:rPr lang="en-US" dirty="0">
                <a:hlinkClick r:id="rId2">
                  <a:extLst>
                    <a:ext uri="{A12FA001-AC4F-418D-AE19-62706E023703}">
                      <ahyp:hlinkClr xmlns:ahyp="http://schemas.microsoft.com/office/drawing/2018/hyperlinkcolor" val="tx"/>
                    </a:ext>
                  </a:extLst>
                </a:hlinkClick>
              </a:rPr>
              <a:t>/</a:t>
            </a:r>
            <a:r>
              <a:rPr lang="en-US" dirty="0" err="1">
                <a:hlinkClick r:id="rId2">
                  <a:extLst>
                    <a:ext uri="{A12FA001-AC4F-418D-AE19-62706E023703}">
                      <ahyp:hlinkClr xmlns:ahyp="http://schemas.microsoft.com/office/drawing/2018/hyperlinkcolor" val="tx"/>
                    </a:ext>
                  </a:extLst>
                </a:hlinkClick>
              </a:rPr>
              <a:t>ui</a:t>
            </a:r>
            <a:r>
              <a:rPr lang="en-US" dirty="0">
                <a:hlinkClick r:id="rId2">
                  <a:extLst>
                    <a:ext uri="{A12FA001-AC4F-418D-AE19-62706E023703}">
                      <ahyp:hlinkClr xmlns:ahyp="http://schemas.microsoft.com/office/drawing/2018/hyperlinkcolor" val="tx"/>
                    </a:ext>
                  </a:extLst>
                </a:hlinkClick>
              </a:rPr>
              <a:t>/widgets</a:t>
            </a:r>
            <a:r>
              <a:rPr lang="en-US" dirty="0"/>
              <a:t>) -&gt; Material Design -&gt; Common Buttons and choose anyone suitable in this case</a:t>
            </a:r>
          </a:p>
          <a:p>
            <a:r>
              <a:rPr lang="en-US" dirty="0"/>
              <a:t>I choose ElevatedButton, use intention action and wrap widget around image</a:t>
            </a:r>
          </a:p>
          <a:p>
            <a:r>
              <a:rPr lang="en-US" dirty="0"/>
              <a:t>As you do it shows error the </a:t>
            </a:r>
            <a:r>
              <a:rPr lang="en-US" dirty="0" err="1"/>
              <a:t>onPressed</a:t>
            </a:r>
            <a:r>
              <a:rPr lang="en-US" dirty="0"/>
              <a:t> function is required</a:t>
            </a:r>
          </a:p>
        </p:txBody>
      </p:sp>
      <p:pic>
        <p:nvPicPr>
          <p:cNvPr id="6" name="Content Placeholder 5">
            <a:extLst>
              <a:ext uri="{FF2B5EF4-FFF2-40B4-BE49-F238E27FC236}">
                <a16:creationId xmlns:a16="http://schemas.microsoft.com/office/drawing/2014/main" id="{91DF2ABA-384C-C9E9-84D5-C10D6C1425B7}"/>
              </a:ext>
            </a:extLst>
          </p:cNvPr>
          <p:cNvPicPr>
            <a:picLocks noGrp="1" noChangeAspect="1"/>
          </p:cNvPicPr>
          <p:nvPr>
            <p:ph sz="half" idx="2"/>
          </p:nvPr>
        </p:nvPicPr>
        <p:blipFill>
          <a:blip r:embed="rId3"/>
          <a:srcRect/>
          <a:stretch/>
        </p:blipFill>
        <p:spPr>
          <a:xfrm>
            <a:off x="9239566" y="1027906"/>
            <a:ext cx="2729162" cy="2346982"/>
          </a:xfrm>
          <a:prstGeom prst="rect">
            <a:avLst/>
          </a:prstGeom>
        </p:spPr>
      </p:pic>
    </p:spTree>
    <p:extLst>
      <p:ext uri="{BB962C8B-B14F-4D97-AF65-F5344CB8AC3E}">
        <p14:creationId xmlns:p14="http://schemas.microsoft.com/office/powerpoint/2010/main" val="1887635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4F766-14E3-F545-A7A6-F998A13AF6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8B2B34-0FD5-C8D2-D0D9-F6F02BB32DF9}"/>
              </a:ext>
            </a:extLst>
          </p:cNvPr>
          <p:cNvSpPr>
            <a:spLocks noGrp="1"/>
          </p:cNvSpPr>
          <p:nvPr>
            <p:ph type="title"/>
          </p:nvPr>
        </p:nvSpPr>
        <p:spPr/>
        <p:txBody>
          <a:bodyPr>
            <a:normAutofit/>
          </a:bodyPr>
          <a:lstStyle/>
          <a:p>
            <a:r>
              <a:rPr lang="en-US" b="1" dirty="0">
                <a:effectLst/>
                <a:latin typeface="inherit"/>
              </a:rPr>
              <a:t>4.   Detecting User Interaction with Flutter Buttons</a:t>
            </a:r>
            <a:endParaRPr lang="en-US" dirty="0"/>
          </a:p>
        </p:txBody>
      </p:sp>
      <p:sp>
        <p:nvSpPr>
          <p:cNvPr id="4" name="Content Placeholder 3">
            <a:extLst>
              <a:ext uri="{FF2B5EF4-FFF2-40B4-BE49-F238E27FC236}">
                <a16:creationId xmlns:a16="http://schemas.microsoft.com/office/drawing/2014/main" id="{5ACAA34F-727E-6E90-4123-8170B688C1DA}"/>
              </a:ext>
            </a:extLst>
          </p:cNvPr>
          <p:cNvSpPr>
            <a:spLocks noGrp="1"/>
          </p:cNvSpPr>
          <p:nvPr>
            <p:ph sz="half" idx="1"/>
          </p:nvPr>
        </p:nvSpPr>
        <p:spPr>
          <a:xfrm>
            <a:off x="838200" y="1825625"/>
            <a:ext cx="6592614" cy="4911506"/>
          </a:xfrm>
        </p:spPr>
        <p:txBody>
          <a:bodyPr>
            <a:normAutofit fontScale="92500"/>
          </a:bodyPr>
          <a:lstStyle/>
          <a:p>
            <a:r>
              <a:rPr lang="en-US" dirty="0"/>
              <a:t>As you insert the ElevatedButton, by default white background and shadow appears</a:t>
            </a:r>
          </a:p>
          <a:p>
            <a:r>
              <a:rPr lang="en-US" dirty="0"/>
              <a:t>We need to either transparent it or red it</a:t>
            </a:r>
          </a:p>
          <a:p>
            <a:r>
              <a:rPr lang="en-US" dirty="0"/>
              <a:t>For that use attribute style: </a:t>
            </a:r>
            <a:r>
              <a:rPr lang="en-US" dirty="0" err="1"/>
              <a:t>ElevatedButton.styleFrom</a:t>
            </a:r>
            <a:r>
              <a:rPr lang="en-US" dirty="0"/>
              <a:t> class</a:t>
            </a:r>
          </a:p>
          <a:p>
            <a:r>
              <a:rPr lang="en-US" dirty="0"/>
              <a:t>If you notice the ElevatedButton dice is much smaller then the other dice because of extra padding, by default ElevatedButton has 8px padding</a:t>
            </a:r>
          </a:p>
          <a:p>
            <a:r>
              <a:rPr lang="en-US" dirty="0"/>
              <a:t>So remove Padding widget instead that use padding attribute within the style as 16px</a:t>
            </a:r>
          </a:p>
        </p:txBody>
      </p:sp>
      <p:pic>
        <p:nvPicPr>
          <p:cNvPr id="6" name="Content Placeholder 5">
            <a:extLst>
              <a:ext uri="{FF2B5EF4-FFF2-40B4-BE49-F238E27FC236}">
                <a16:creationId xmlns:a16="http://schemas.microsoft.com/office/drawing/2014/main" id="{9F25D1EA-F017-3D12-8D0E-58737E673C71}"/>
              </a:ext>
            </a:extLst>
          </p:cNvPr>
          <p:cNvPicPr>
            <a:picLocks noGrp="1" noChangeAspect="1"/>
          </p:cNvPicPr>
          <p:nvPr>
            <p:ph sz="half" idx="2"/>
          </p:nvPr>
        </p:nvPicPr>
        <p:blipFill>
          <a:blip r:embed="rId2"/>
          <a:srcRect/>
          <a:stretch/>
        </p:blipFill>
        <p:spPr>
          <a:xfrm>
            <a:off x="9239566" y="1027906"/>
            <a:ext cx="2729162" cy="2346982"/>
          </a:xfrm>
          <a:prstGeom prst="rect">
            <a:avLst/>
          </a:prstGeom>
        </p:spPr>
      </p:pic>
    </p:spTree>
    <p:extLst>
      <p:ext uri="{BB962C8B-B14F-4D97-AF65-F5344CB8AC3E}">
        <p14:creationId xmlns:p14="http://schemas.microsoft.com/office/powerpoint/2010/main" val="2020451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3C3EA-2845-924C-6242-A83C929C23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D5B2C-18C2-8F59-13FC-DE1103A33E39}"/>
              </a:ext>
            </a:extLst>
          </p:cNvPr>
          <p:cNvSpPr>
            <a:spLocks noGrp="1"/>
          </p:cNvSpPr>
          <p:nvPr>
            <p:ph type="title"/>
          </p:nvPr>
        </p:nvSpPr>
        <p:spPr/>
        <p:txBody>
          <a:bodyPr>
            <a:normAutofit/>
          </a:bodyPr>
          <a:lstStyle/>
          <a:p>
            <a:r>
              <a:rPr lang="en-US" b="1" dirty="0">
                <a:effectLst/>
                <a:latin typeface="inherit"/>
              </a:rPr>
              <a:t>4.   Detecting User Interaction with Flutter Buttons</a:t>
            </a:r>
            <a:endParaRPr lang="en-US" dirty="0"/>
          </a:p>
        </p:txBody>
      </p:sp>
      <p:sp>
        <p:nvSpPr>
          <p:cNvPr id="4" name="Content Placeholder 3">
            <a:extLst>
              <a:ext uri="{FF2B5EF4-FFF2-40B4-BE49-F238E27FC236}">
                <a16:creationId xmlns:a16="http://schemas.microsoft.com/office/drawing/2014/main" id="{AEAF6AA8-09B8-7424-5274-D003E5E4FFEA}"/>
              </a:ext>
            </a:extLst>
          </p:cNvPr>
          <p:cNvSpPr>
            <a:spLocks noGrp="1"/>
          </p:cNvSpPr>
          <p:nvPr>
            <p:ph sz="half" idx="1"/>
          </p:nvPr>
        </p:nvSpPr>
        <p:spPr>
          <a:xfrm>
            <a:off x="838200" y="1825625"/>
            <a:ext cx="6592614" cy="4911506"/>
          </a:xfrm>
        </p:spPr>
        <p:txBody>
          <a:bodyPr>
            <a:normAutofit lnSpcReduction="10000"/>
          </a:bodyPr>
          <a:lstStyle/>
          <a:p>
            <a:r>
              <a:rPr lang="en-US" dirty="0"/>
              <a:t>If you notice for the action detection ElevatedButton has </a:t>
            </a:r>
            <a:r>
              <a:rPr lang="en-US" dirty="0" err="1"/>
              <a:t>onPressed</a:t>
            </a:r>
            <a:r>
              <a:rPr lang="en-US" dirty="0"/>
              <a:t> attribute, which calling </a:t>
            </a:r>
            <a:r>
              <a:rPr lang="en-US" dirty="0" err="1"/>
              <a:t>voidFunction</a:t>
            </a:r>
            <a:r>
              <a:rPr lang="en-US" dirty="0"/>
              <a:t> </a:t>
            </a:r>
            <a:r>
              <a:rPr lang="en-US" dirty="0" err="1"/>
              <a:t>CallBack</a:t>
            </a:r>
            <a:r>
              <a:rPr lang="en-US" dirty="0"/>
              <a:t> method, declared as ( ){ }</a:t>
            </a:r>
          </a:p>
          <a:p>
            <a:r>
              <a:rPr lang="en-US" dirty="0"/>
              <a:t>For a demo how </a:t>
            </a:r>
            <a:r>
              <a:rPr lang="en-US" dirty="0" err="1"/>
              <a:t>onPressed</a:t>
            </a:r>
            <a:r>
              <a:rPr lang="en-US" dirty="0"/>
              <a:t> works we write print statement which give the output on the console.</a:t>
            </a:r>
          </a:p>
          <a:p>
            <a:r>
              <a:rPr lang="en-US" dirty="0"/>
              <a:t>But we need image to be change on the click</a:t>
            </a:r>
          </a:p>
          <a:p>
            <a:pPr marL="0" indent="0">
              <a:buNone/>
            </a:pPr>
            <a:r>
              <a:rPr lang="en-US" dirty="0"/>
              <a:t>So get clear idea how Dart Function is helpful in this lets dive into Dart Programming </a:t>
            </a:r>
          </a:p>
        </p:txBody>
      </p:sp>
      <p:pic>
        <p:nvPicPr>
          <p:cNvPr id="6" name="Content Placeholder 5">
            <a:extLst>
              <a:ext uri="{FF2B5EF4-FFF2-40B4-BE49-F238E27FC236}">
                <a16:creationId xmlns:a16="http://schemas.microsoft.com/office/drawing/2014/main" id="{51A27CE5-1810-3447-EAFE-580947428A68}"/>
              </a:ext>
            </a:extLst>
          </p:cNvPr>
          <p:cNvPicPr>
            <a:picLocks noGrp="1" noChangeAspect="1"/>
          </p:cNvPicPr>
          <p:nvPr>
            <p:ph sz="half" idx="2"/>
          </p:nvPr>
        </p:nvPicPr>
        <p:blipFill>
          <a:blip r:embed="rId2"/>
          <a:srcRect/>
          <a:stretch/>
        </p:blipFill>
        <p:spPr>
          <a:xfrm>
            <a:off x="9239566" y="1027906"/>
            <a:ext cx="2729162" cy="2346982"/>
          </a:xfrm>
          <a:prstGeom prst="rect">
            <a:avLst/>
          </a:prstGeom>
        </p:spPr>
      </p:pic>
    </p:spTree>
    <p:extLst>
      <p:ext uri="{BB962C8B-B14F-4D97-AF65-F5344CB8AC3E}">
        <p14:creationId xmlns:p14="http://schemas.microsoft.com/office/powerpoint/2010/main" val="1676394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EAC95-7BA1-ABAF-E266-F1C7FD28D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CB7B2E-1D86-3FA8-D0EE-8782A106F7B2}"/>
              </a:ext>
            </a:extLst>
          </p:cNvPr>
          <p:cNvSpPr>
            <a:spLocks noGrp="1"/>
          </p:cNvSpPr>
          <p:nvPr>
            <p:ph type="title"/>
          </p:nvPr>
        </p:nvSpPr>
        <p:spPr/>
        <p:txBody>
          <a:bodyPr>
            <a:normAutofit/>
          </a:bodyPr>
          <a:lstStyle/>
          <a:p>
            <a:r>
              <a:rPr lang="en-US" b="1" dirty="0">
                <a:effectLst/>
                <a:latin typeface="inherit"/>
              </a:rPr>
              <a:t>5. Dart Functions – Part – 1</a:t>
            </a:r>
            <a:endParaRPr lang="en-US" dirty="0"/>
          </a:p>
        </p:txBody>
      </p:sp>
      <p:sp>
        <p:nvSpPr>
          <p:cNvPr id="4" name="Content Placeholder 3">
            <a:extLst>
              <a:ext uri="{FF2B5EF4-FFF2-40B4-BE49-F238E27FC236}">
                <a16:creationId xmlns:a16="http://schemas.microsoft.com/office/drawing/2014/main" id="{BD9CAB36-1BC6-AC6E-C8D0-9731D3CBA8D3}"/>
              </a:ext>
            </a:extLst>
          </p:cNvPr>
          <p:cNvSpPr>
            <a:spLocks noGrp="1"/>
          </p:cNvSpPr>
          <p:nvPr>
            <p:ph sz="half" idx="1"/>
          </p:nvPr>
        </p:nvSpPr>
        <p:spPr>
          <a:xfrm>
            <a:off x="838200" y="1825625"/>
            <a:ext cx="6592614" cy="4911506"/>
          </a:xfrm>
        </p:spPr>
        <p:txBody>
          <a:bodyPr>
            <a:normAutofit fontScale="85000" lnSpcReduction="20000"/>
          </a:bodyPr>
          <a:lstStyle/>
          <a:p>
            <a:r>
              <a:rPr lang="en-US" dirty="0"/>
              <a:t>We try to package bits of code together into a block and to call that block of code repeatedly, saving us typing the same code again n again</a:t>
            </a:r>
          </a:p>
          <a:p>
            <a:r>
              <a:rPr lang="en-US" dirty="0"/>
              <a:t>E.g. I have a Robot who’s task is to bring Milk from the milk store daily, as its machine we need to give it set of instruction such as </a:t>
            </a:r>
          </a:p>
          <a:p>
            <a:pPr marL="1828800" lvl="4" indent="0">
              <a:buNone/>
            </a:pPr>
            <a:r>
              <a:rPr lang="en-US" dirty="0"/>
              <a:t>{ </a:t>
            </a:r>
          </a:p>
          <a:p>
            <a:pPr marL="1828800" lvl="4" indent="0">
              <a:buNone/>
            </a:pPr>
            <a:r>
              <a:rPr lang="en-US" dirty="0"/>
              <a:t>move-right,</a:t>
            </a:r>
          </a:p>
          <a:p>
            <a:pPr marL="1828800" lvl="4" indent="0">
              <a:buNone/>
            </a:pPr>
            <a:r>
              <a:rPr lang="en-US" dirty="0"/>
              <a:t>move-left, </a:t>
            </a:r>
          </a:p>
          <a:p>
            <a:pPr marL="1828800" lvl="4" indent="0">
              <a:buNone/>
            </a:pPr>
            <a:r>
              <a:rPr lang="en-US" dirty="0"/>
              <a:t>move-forward </a:t>
            </a:r>
          </a:p>
          <a:p>
            <a:pPr marL="1828800" lvl="4" indent="0">
              <a:buNone/>
            </a:pPr>
            <a:r>
              <a:rPr lang="en-US" dirty="0"/>
              <a:t>backward, </a:t>
            </a:r>
          </a:p>
          <a:p>
            <a:pPr marL="1828800" lvl="4" indent="0">
              <a:buNone/>
            </a:pPr>
            <a:r>
              <a:rPr lang="en-US" dirty="0"/>
              <a:t>pick the milk, </a:t>
            </a:r>
          </a:p>
          <a:p>
            <a:pPr marL="1828800" lvl="4" indent="0">
              <a:buNone/>
            </a:pPr>
            <a:r>
              <a:rPr lang="en-US" dirty="0"/>
              <a:t>get back to the home</a:t>
            </a:r>
          </a:p>
          <a:p>
            <a:pPr marL="1828800" lvl="4" indent="0">
              <a:buNone/>
            </a:pPr>
            <a:r>
              <a:rPr lang="en-US" dirty="0"/>
              <a:t>}</a:t>
            </a:r>
          </a:p>
          <a:p>
            <a:r>
              <a:rPr lang="en-US" dirty="0"/>
              <a:t>As a programmer we create a program to repeat such instruction on daily basis rather to enter commands on daily basis.</a:t>
            </a:r>
          </a:p>
        </p:txBody>
      </p:sp>
      <p:pic>
        <p:nvPicPr>
          <p:cNvPr id="7" name="Picture 2">
            <a:extLst>
              <a:ext uri="{FF2B5EF4-FFF2-40B4-BE49-F238E27FC236}">
                <a16:creationId xmlns:a16="http://schemas.microsoft.com/office/drawing/2014/main" id="{E6ABA2E3-3BD5-C284-AEE1-AF07E475A202}"/>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743469" y="1331639"/>
            <a:ext cx="435133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272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04040-EAB5-3435-D984-8FE81CC24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E8FB28-B695-A460-9362-387F6C53945A}"/>
              </a:ext>
            </a:extLst>
          </p:cNvPr>
          <p:cNvSpPr>
            <a:spLocks noGrp="1"/>
          </p:cNvSpPr>
          <p:nvPr>
            <p:ph type="title"/>
          </p:nvPr>
        </p:nvSpPr>
        <p:spPr/>
        <p:txBody>
          <a:bodyPr>
            <a:normAutofit/>
          </a:bodyPr>
          <a:lstStyle/>
          <a:p>
            <a:r>
              <a:rPr lang="en-US" b="1" dirty="0">
                <a:effectLst/>
                <a:latin typeface="inherit"/>
              </a:rPr>
              <a:t>5. Dart Functions – Part – 1</a:t>
            </a:r>
            <a:endParaRPr lang="en-US" dirty="0"/>
          </a:p>
        </p:txBody>
      </p:sp>
      <p:sp>
        <p:nvSpPr>
          <p:cNvPr id="4" name="Content Placeholder 3">
            <a:extLst>
              <a:ext uri="{FF2B5EF4-FFF2-40B4-BE49-F238E27FC236}">
                <a16:creationId xmlns:a16="http://schemas.microsoft.com/office/drawing/2014/main" id="{C4571FCD-966E-3AB7-7B46-B03CEAB4224D}"/>
              </a:ext>
            </a:extLst>
          </p:cNvPr>
          <p:cNvSpPr>
            <a:spLocks noGrp="1"/>
          </p:cNvSpPr>
          <p:nvPr>
            <p:ph sz="half" idx="1"/>
          </p:nvPr>
        </p:nvSpPr>
        <p:spPr>
          <a:xfrm>
            <a:off x="838200" y="1825625"/>
            <a:ext cx="6592614" cy="4911506"/>
          </a:xfrm>
        </p:spPr>
        <p:txBody>
          <a:bodyPr>
            <a:normAutofit/>
          </a:bodyPr>
          <a:lstStyle/>
          <a:p>
            <a:r>
              <a:rPr lang="en-US" dirty="0"/>
              <a:t>In Dart we create Function as </a:t>
            </a:r>
          </a:p>
          <a:p>
            <a:pPr marL="0" indent="0">
              <a:buNone/>
            </a:pPr>
            <a:r>
              <a:rPr lang="en-US" dirty="0"/>
              <a:t>	void </a:t>
            </a:r>
            <a:r>
              <a:rPr lang="en-US" dirty="0" err="1"/>
              <a:t>getMilk</a:t>
            </a:r>
            <a:r>
              <a:rPr lang="en-US" dirty="0"/>
              <a:t>() { //do something}</a:t>
            </a:r>
          </a:p>
          <a:p>
            <a:pPr marL="0" indent="0">
              <a:buNone/>
            </a:pPr>
            <a:r>
              <a:rPr lang="en-US" dirty="0"/>
              <a:t>Calling Function as </a:t>
            </a:r>
          </a:p>
          <a:p>
            <a:pPr marL="0" indent="0">
              <a:buNone/>
            </a:pPr>
            <a:r>
              <a:rPr lang="en-US" dirty="0"/>
              <a:t>	</a:t>
            </a:r>
            <a:r>
              <a:rPr lang="en-US" dirty="0" err="1"/>
              <a:t>getMilk</a:t>
            </a:r>
            <a:r>
              <a:rPr lang="en-US" dirty="0"/>
              <a:t>();</a:t>
            </a:r>
          </a:p>
          <a:p>
            <a:pPr marL="0" indent="0">
              <a:buNone/>
            </a:pPr>
            <a:endParaRPr lang="en-US" dirty="0"/>
          </a:p>
          <a:p>
            <a:pPr marL="0" indent="0">
              <a:buNone/>
            </a:pPr>
            <a:r>
              <a:rPr lang="en-US" dirty="0"/>
              <a:t>Above we created named function because </a:t>
            </a:r>
            <a:r>
              <a:rPr lang="en-US" dirty="0" err="1"/>
              <a:t>getMilk</a:t>
            </a:r>
            <a:r>
              <a:rPr lang="en-US" dirty="0"/>
              <a:t> referring function name</a:t>
            </a:r>
          </a:p>
          <a:p>
            <a:pPr marL="0" indent="0">
              <a:buNone/>
            </a:pPr>
            <a:r>
              <a:rPr lang="en-US" dirty="0"/>
              <a:t>Now if we drop all parts except (){} is called Anonymous function</a:t>
            </a:r>
          </a:p>
        </p:txBody>
      </p:sp>
      <p:pic>
        <p:nvPicPr>
          <p:cNvPr id="7" name="Picture 2">
            <a:extLst>
              <a:ext uri="{FF2B5EF4-FFF2-40B4-BE49-F238E27FC236}">
                <a16:creationId xmlns:a16="http://schemas.microsoft.com/office/drawing/2014/main" id="{8B0EBE2C-487D-8482-954F-A4F658D546D6}"/>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743469" y="1331639"/>
            <a:ext cx="435133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8008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E5815-AF71-EDD7-D153-5A18593A88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888C39-A013-9605-CAD8-F03563F71999}"/>
              </a:ext>
            </a:extLst>
          </p:cNvPr>
          <p:cNvSpPr>
            <a:spLocks noGrp="1"/>
          </p:cNvSpPr>
          <p:nvPr>
            <p:ph type="title"/>
          </p:nvPr>
        </p:nvSpPr>
        <p:spPr/>
        <p:txBody>
          <a:bodyPr>
            <a:normAutofit/>
          </a:bodyPr>
          <a:lstStyle/>
          <a:p>
            <a:r>
              <a:rPr lang="en-US" b="1" dirty="0">
                <a:effectLst/>
                <a:latin typeface="inherit"/>
              </a:rPr>
              <a:t>6. </a:t>
            </a:r>
            <a:r>
              <a:rPr lang="en-US" b="1" i="0" dirty="0">
                <a:latin typeface="inherit"/>
              </a:rPr>
              <a:t>Making the Dice Image Change Reactively</a:t>
            </a:r>
            <a:endParaRPr lang="en-US" dirty="0"/>
          </a:p>
        </p:txBody>
      </p:sp>
      <p:sp>
        <p:nvSpPr>
          <p:cNvPr id="4" name="Content Placeholder 3">
            <a:extLst>
              <a:ext uri="{FF2B5EF4-FFF2-40B4-BE49-F238E27FC236}">
                <a16:creationId xmlns:a16="http://schemas.microsoft.com/office/drawing/2014/main" id="{71D17C9E-056B-B4E8-D45A-1659CC3D3C0C}"/>
              </a:ext>
            </a:extLst>
          </p:cNvPr>
          <p:cNvSpPr>
            <a:spLocks noGrp="1"/>
          </p:cNvSpPr>
          <p:nvPr>
            <p:ph sz="half" idx="1"/>
          </p:nvPr>
        </p:nvSpPr>
        <p:spPr>
          <a:xfrm>
            <a:off x="838200" y="1825625"/>
            <a:ext cx="6592614" cy="4911506"/>
          </a:xfrm>
        </p:spPr>
        <p:txBody>
          <a:bodyPr>
            <a:normAutofit fontScale="92500" lnSpcReduction="20000"/>
          </a:bodyPr>
          <a:lstStyle/>
          <a:p>
            <a:r>
              <a:rPr lang="en-US" dirty="0"/>
              <a:t>Now on click button dice image suppose to be change</a:t>
            </a:r>
          </a:p>
          <a:p>
            <a:r>
              <a:rPr lang="en-US" dirty="0"/>
              <a:t>If you observe the all images have same name in common with the numeric such as dice1, dice2 and so on</a:t>
            </a:r>
          </a:p>
          <a:p>
            <a:r>
              <a:rPr lang="en-US" dirty="0"/>
              <a:t>So somehow we need to change the suffix part rest of the remain same</a:t>
            </a:r>
          </a:p>
          <a:p>
            <a:r>
              <a:rPr lang="en-US" dirty="0"/>
              <a:t>Create a variable inside the stateless class e.g. var </a:t>
            </a:r>
            <a:r>
              <a:rPr lang="en-US" dirty="0" err="1"/>
              <a:t>leftDiceNumber</a:t>
            </a:r>
            <a:r>
              <a:rPr lang="en-US" dirty="0"/>
              <a:t> = 5;</a:t>
            </a:r>
          </a:p>
          <a:p>
            <a:r>
              <a:rPr lang="en-US" dirty="0"/>
              <a:t>Include the variable into the filename by using $ symbol</a:t>
            </a:r>
          </a:p>
          <a:p>
            <a:r>
              <a:rPr lang="en-US" dirty="0"/>
              <a:t>If you notice not updated because only code under the build method gets reload only. So declare the variable under the build method</a:t>
            </a:r>
          </a:p>
        </p:txBody>
      </p:sp>
      <p:pic>
        <p:nvPicPr>
          <p:cNvPr id="6" name="Content Placeholder 5">
            <a:extLst>
              <a:ext uri="{FF2B5EF4-FFF2-40B4-BE49-F238E27FC236}">
                <a16:creationId xmlns:a16="http://schemas.microsoft.com/office/drawing/2014/main" id="{298A4D70-0698-436C-6093-445B403806E8}"/>
              </a:ext>
            </a:extLst>
          </p:cNvPr>
          <p:cNvPicPr>
            <a:picLocks noGrp="1" noChangeAspect="1"/>
          </p:cNvPicPr>
          <p:nvPr>
            <p:ph sz="half" idx="2"/>
          </p:nvPr>
        </p:nvPicPr>
        <p:blipFill>
          <a:blip r:embed="rId2"/>
          <a:srcRect/>
          <a:stretch/>
        </p:blipFill>
        <p:spPr>
          <a:xfrm>
            <a:off x="9229056" y="1616486"/>
            <a:ext cx="2729162" cy="2346982"/>
          </a:xfrm>
          <a:prstGeom prst="rect">
            <a:avLst/>
          </a:prstGeom>
        </p:spPr>
      </p:pic>
    </p:spTree>
    <p:extLst>
      <p:ext uri="{BB962C8B-B14F-4D97-AF65-F5344CB8AC3E}">
        <p14:creationId xmlns:p14="http://schemas.microsoft.com/office/powerpoint/2010/main" val="3959580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0CE9D-3ECF-1678-F182-6C05750E1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7500B8-372F-3249-70CA-3A90D2618631}"/>
              </a:ext>
            </a:extLst>
          </p:cNvPr>
          <p:cNvSpPr>
            <a:spLocks noGrp="1"/>
          </p:cNvSpPr>
          <p:nvPr>
            <p:ph type="title"/>
          </p:nvPr>
        </p:nvSpPr>
        <p:spPr/>
        <p:txBody>
          <a:bodyPr>
            <a:normAutofit/>
          </a:bodyPr>
          <a:lstStyle/>
          <a:p>
            <a:r>
              <a:rPr lang="en-US" b="1" dirty="0">
                <a:effectLst/>
                <a:latin typeface="inherit"/>
              </a:rPr>
              <a:t>7. Dart Variables</a:t>
            </a:r>
            <a:endParaRPr lang="en-US" dirty="0"/>
          </a:p>
        </p:txBody>
      </p:sp>
      <p:sp>
        <p:nvSpPr>
          <p:cNvPr id="4" name="Content Placeholder 3">
            <a:extLst>
              <a:ext uri="{FF2B5EF4-FFF2-40B4-BE49-F238E27FC236}">
                <a16:creationId xmlns:a16="http://schemas.microsoft.com/office/drawing/2014/main" id="{2474A01F-801C-4B3A-D598-B830862DC99A}"/>
              </a:ext>
            </a:extLst>
          </p:cNvPr>
          <p:cNvSpPr>
            <a:spLocks noGrp="1"/>
          </p:cNvSpPr>
          <p:nvPr>
            <p:ph sz="half" idx="1"/>
          </p:nvPr>
        </p:nvSpPr>
        <p:spPr>
          <a:xfrm>
            <a:off x="838200" y="1405211"/>
            <a:ext cx="6592614" cy="4911506"/>
          </a:xfrm>
        </p:spPr>
        <p:txBody>
          <a:bodyPr>
            <a:normAutofit/>
          </a:bodyPr>
          <a:lstStyle/>
          <a:p>
            <a:r>
              <a:rPr lang="en-US" dirty="0"/>
              <a:t>We use variable within the string value by placing $ sign, this is called String Interpolation</a:t>
            </a:r>
          </a:p>
          <a:p>
            <a:r>
              <a:rPr lang="en-US" dirty="0"/>
              <a:t>Open dart editor online </a:t>
            </a:r>
            <a:r>
              <a:rPr lang="en-US" dirty="0">
                <a:hlinkClick r:id="rId2">
                  <a:extLst>
                    <a:ext uri="{A12FA001-AC4F-418D-AE19-62706E023703}">
                      <ahyp:hlinkClr xmlns:ahyp="http://schemas.microsoft.com/office/drawing/2018/hyperlinkcolor" val="tx"/>
                    </a:ext>
                  </a:extLst>
                </a:hlinkClick>
              </a:rPr>
              <a:t>https://dartpad.dev/</a:t>
            </a:r>
            <a:endParaRPr lang="en-US" dirty="0"/>
          </a:p>
          <a:p>
            <a:r>
              <a:rPr lang="en-US" dirty="0"/>
              <a:t>Create var </a:t>
            </a:r>
            <a:r>
              <a:rPr lang="en-US" dirty="0" err="1"/>
              <a:t>myName</a:t>
            </a:r>
            <a:r>
              <a:rPr lang="en-US" dirty="0"/>
              <a:t> and print the value</a:t>
            </a:r>
          </a:p>
        </p:txBody>
      </p:sp>
      <p:pic>
        <p:nvPicPr>
          <p:cNvPr id="7" name="Picture 2">
            <a:extLst>
              <a:ext uri="{FF2B5EF4-FFF2-40B4-BE49-F238E27FC236}">
                <a16:creationId xmlns:a16="http://schemas.microsoft.com/office/drawing/2014/main" id="{475DEE7C-B0B9-7891-1076-21D22E0083B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743469" y="1331639"/>
            <a:ext cx="435133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8757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12C7B-28C2-D1AA-D54A-60AEA80F30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83AAD2-FD2B-4F7D-E4A9-A3BDB68C9C18}"/>
              </a:ext>
            </a:extLst>
          </p:cNvPr>
          <p:cNvSpPr>
            <a:spLocks noGrp="1"/>
          </p:cNvSpPr>
          <p:nvPr>
            <p:ph type="title"/>
          </p:nvPr>
        </p:nvSpPr>
        <p:spPr/>
        <p:txBody>
          <a:bodyPr>
            <a:normAutofit/>
          </a:bodyPr>
          <a:lstStyle/>
          <a:p>
            <a:r>
              <a:rPr lang="en-US" b="1" dirty="0">
                <a:effectLst/>
                <a:latin typeface="inherit"/>
              </a:rPr>
              <a:t>8. Dart Types</a:t>
            </a:r>
            <a:endParaRPr lang="en-US" dirty="0"/>
          </a:p>
        </p:txBody>
      </p:sp>
      <p:sp>
        <p:nvSpPr>
          <p:cNvPr id="4" name="Content Placeholder 3">
            <a:extLst>
              <a:ext uri="{FF2B5EF4-FFF2-40B4-BE49-F238E27FC236}">
                <a16:creationId xmlns:a16="http://schemas.microsoft.com/office/drawing/2014/main" id="{58D4EC69-F3A0-B6D5-C63C-E13184C91B2B}"/>
              </a:ext>
            </a:extLst>
          </p:cNvPr>
          <p:cNvSpPr>
            <a:spLocks noGrp="1"/>
          </p:cNvSpPr>
          <p:nvPr>
            <p:ph sz="half" idx="1"/>
          </p:nvPr>
        </p:nvSpPr>
        <p:spPr>
          <a:xfrm>
            <a:off x="838200" y="1405211"/>
            <a:ext cx="6592614" cy="4911506"/>
          </a:xfrm>
        </p:spPr>
        <p:txBody>
          <a:bodyPr>
            <a:normAutofit/>
          </a:bodyPr>
          <a:lstStyle/>
          <a:p>
            <a:r>
              <a:rPr lang="en-US" dirty="0"/>
              <a:t>Dart statically Type Language</a:t>
            </a:r>
          </a:p>
          <a:p>
            <a:r>
              <a:rPr lang="en-US" dirty="0"/>
              <a:t>Var data type variable declare the type according to the value used at the time declaration/initialization</a:t>
            </a:r>
          </a:p>
          <a:p>
            <a:r>
              <a:rPr lang="en-US" dirty="0"/>
              <a:t>If you given first value string then var type would remain string and </a:t>
            </a:r>
            <a:r>
              <a:rPr lang="en-US" dirty="0" err="1"/>
              <a:t>viceversa</a:t>
            </a:r>
            <a:r>
              <a:rPr lang="en-US" dirty="0"/>
              <a:t>. </a:t>
            </a:r>
          </a:p>
        </p:txBody>
      </p:sp>
      <p:pic>
        <p:nvPicPr>
          <p:cNvPr id="7" name="Picture 2">
            <a:extLst>
              <a:ext uri="{FF2B5EF4-FFF2-40B4-BE49-F238E27FC236}">
                <a16:creationId xmlns:a16="http://schemas.microsoft.com/office/drawing/2014/main" id="{FB612D77-2540-BF81-0888-5FD7C7414D93}"/>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743469" y="1331639"/>
            <a:ext cx="435133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3607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F86F7-78F8-80AC-F11D-7D5210621E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809E3B-BA13-028E-1B28-890958635633}"/>
              </a:ext>
            </a:extLst>
          </p:cNvPr>
          <p:cNvSpPr>
            <a:spLocks noGrp="1"/>
          </p:cNvSpPr>
          <p:nvPr>
            <p:ph type="title"/>
          </p:nvPr>
        </p:nvSpPr>
        <p:spPr/>
        <p:txBody>
          <a:bodyPr>
            <a:normAutofit/>
          </a:bodyPr>
          <a:lstStyle/>
          <a:p>
            <a:r>
              <a:rPr lang="en-US" b="1" dirty="0">
                <a:effectLst/>
                <a:latin typeface="inherit"/>
              </a:rPr>
              <a:t>9. Stateful vs Stateless Widgets</a:t>
            </a:r>
            <a:endParaRPr lang="en-US" dirty="0"/>
          </a:p>
        </p:txBody>
      </p:sp>
      <p:sp>
        <p:nvSpPr>
          <p:cNvPr id="4" name="Content Placeholder 3">
            <a:extLst>
              <a:ext uri="{FF2B5EF4-FFF2-40B4-BE49-F238E27FC236}">
                <a16:creationId xmlns:a16="http://schemas.microsoft.com/office/drawing/2014/main" id="{7D95F072-88AF-42E1-8515-7BE62C9E12E7}"/>
              </a:ext>
            </a:extLst>
          </p:cNvPr>
          <p:cNvSpPr>
            <a:spLocks noGrp="1"/>
          </p:cNvSpPr>
          <p:nvPr>
            <p:ph sz="half" idx="1"/>
          </p:nvPr>
        </p:nvSpPr>
        <p:spPr>
          <a:xfrm>
            <a:off x="838200" y="1825625"/>
            <a:ext cx="6592614" cy="4911506"/>
          </a:xfrm>
        </p:spPr>
        <p:txBody>
          <a:bodyPr>
            <a:normAutofit fontScale="77500" lnSpcReduction="20000"/>
          </a:bodyPr>
          <a:lstStyle/>
          <a:p>
            <a:r>
              <a:rPr lang="en-US" dirty="0"/>
              <a:t>So far we click on the dice the </a:t>
            </a:r>
            <a:r>
              <a:rPr lang="en-US" dirty="0" err="1"/>
              <a:t>onPressed</a:t>
            </a:r>
            <a:r>
              <a:rPr lang="en-US" dirty="0"/>
              <a:t> event trigger which has print statement </a:t>
            </a:r>
          </a:p>
          <a:p>
            <a:r>
              <a:rPr lang="en-US" dirty="0"/>
              <a:t>But we need to roll the dices, mean on click the dice image change. For that previously we created a variable and call that variable as the file name. But still its not changing!</a:t>
            </a:r>
          </a:p>
          <a:p>
            <a:r>
              <a:rPr lang="en-US" dirty="0"/>
              <a:t>For that we need stateful class;</a:t>
            </a:r>
          </a:p>
          <a:p>
            <a:r>
              <a:rPr lang="en-US" dirty="0"/>
              <a:t>Think state that refers to the way that things are  e.g. Row also be Row, Column also be Column; in other words those widgets are not changing the positions are called stateless widgets and should be declared within stateless class</a:t>
            </a:r>
          </a:p>
          <a:p>
            <a:r>
              <a:rPr lang="en-US" dirty="0"/>
              <a:t>Whereas, stateful class where we can change the widgets as per requirement, e.g. in our app when user click the dice it suppose to change the dice image and to do that we need to update the state</a:t>
            </a:r>
          </a:p>
        </p:txBody>
      </p:sp>
      <p:pic>
        <p:nvPicPr>
          <p:cNvPr id="6" name="Content Placeholder 5">
            <a:extLst>
              <a:ext uri="{FF2B5EF4-FFF2-40B4-BE49-F238E27FC236}">
                <a16:creationId xmlns:a16="http://schemas.microsoft.com/office/drawing/2014/main" id="{BA0E1ECD-A525-1817-B195-A289794A90F5}"/>
              </a:ext>
            </a:extLst>
          </p:cNvPr>
          <p:cNvPicPr>
            <a:picLocks noGrp="1" noChangeAspect="1"/>
          </p:cNvPicPr>
          <p:nvPr>
            <p:ph sz="half" idx="2"/>
          </p:nvPr>
        </p:nvPicPr>
        <p:blipFill>
          <a:blip r:embed="rId2"/>
          <a:srcRect/>
          <a:stretch/>
        </p:blipFill>
        <p:spPr>
          <a:xfrm>
            <a:off x="9229056" y="1616486"/>
            <a:ext cx="2729162" cy="2346982"/>
          </a:xfrm>
          <a:prstGeom prst="rect">
            <a:avLst/>
          </a:prstGeom>
        </p:spPr>
      </p:pic>
    </p:spTree>
    <p:extLst>
      <p:ext uri="{BB962C8B-B14F-4D97-AF65-F5344CB8AC3E}">
        <p14:creationId xmlns:p14="http://schemas.microsoft.com/office/powerpoint/2010/main" val="5792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18393-C131-499C-F9F3-EFB25EADAE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C3C004-7255-A7B7-7074-629925C2088C}"/>
              </a:ext>
            </a:extLst>
          </p:cNvPr>
          <p:cNvSpPr>
            <a:spLocks noGrp="1"/>
          </p:cNvSpPr>
          <p:nvPr>
            <p:ph type="title"/>
          </p:nvPr>
        </p:nvSpPr>
        <p:spPr/>
        <p:txBody>
          <a:bodyPr>
            <a:normAutofit/>
          </a:bodyPr>
          <a:lstStyle/>
          <a:p>
            <a:r>
              <a:rPr lang="en-US" b="1" dirty="0">
                <a:effectLst/>
                <a:latin typeface="inherit"/>
              </a:rPr>
              <a:t>9. Stateful vs Stateless Widgets</a:t>
            </a:r>
            <a:endParaRPr lang="en-US" dirty="0"/>
          </a:p>
        </p:txBody>
      </p:sp>
      <p:sp>
        <p:nvSpPr>
          <p:cNvPr id="4" name="Content Placeholder 3">
            <a:extLst>
              <a:ext uri="{FF2B5EF4-FFF2-40B4-BE49-F238E27FC236}">
                <a16:creationId xmlns:a16="http://schemas.microsoft.com/office/drawing/2014/main" id="{A8CB94A7-AECA-744F-AEA7-501EBB35A8FA}"/>
              </a:ext>
            </a:extLst>
          </p:cNvPr>
          <p:cNvSpPr>
            <a:spLocks noGrp="1"/>
          </p:cNvSpPr>
          <p:nvPr>
            <p:ph sz="half" idx="1"/>
          </p:nvPr>
        </p:nvSpPr>
        <p:spPr>
          <a:xfrm>
            <a:off x="838200" y="1825625"/>
            <a:ext cx="6592614" cy="4911506"/>
          </a:xfrm>
        </p:spPr>
        <p:txBody>
          <a:bodyPr>
            <a:normAutofit/>
          </a:bodyPr>
          <a:lstStyle/>
          <a:p>
            <a:r>
              <a:rPr lang="en-US" dirty="0"/>
              <a:t>if you are creating a UI where the state of the widget isn’t going to change, then you would use a stateless widget.</a:t>
            </a:r>
          </a:p>
          <a:p>
            <a:r>
              <a:rPr lang="en-US" dirty="0"/>
              <a:t>If you’re creating something which is going to change especially when its dependent on user interaction, click/tap on button or user pulls in some data from the internet something on the screen updates, then we need stateful widget. </a:t>
            </a:r>
          </a:p>
          <a:p>
            <a:r>
              <a:rPr lang="en-US" dirty="0"/>
              <a:t>Shortcut to create stateful class (</a:t>
            </a:r>
            <a:r>
              <a:rPr lang="en-US" dirty="0" err="1"/>
              <a:t>stful</a:t>
            </a:r>
            <a:r>
              <a:rPr lang="en-US" dirty="0"/>
              <a:t>)</a:t>
            </a:r>
          </a:p>
          <a:p>
            <a:endParaRPr lang="en-US" dirty="0"/>
          </a:p>
        </p:txBody>
      </p:sp>
      <p:pic>
        <p:nvPicPr>
          <p:cNvPr id="6" name="Content Placeholder 5">
            <a:extLst>
              <a:ext uri="{FF2B5EF4-FFF2-40B4-BE49-F238E27FC236}">
                <a16:creationId xmlns:a16="http://schemas.microsoft.com/office/drawing/2014/main" id="{03D2B591-8166-293F-AF0C-7C04EBBA5E3E}"/>
              </a:ext>
            </a:extLst>
          </p:cNvPr>
          <p:cNvPicPr>
            <a:picLocks noGrp="1" noChangeAspect="1"/>
          </p:cNvPicPr>
          <p:nvPr>
            <p:ph sz="half" idx="2"/>
          </p:nvPr>
        </p:nvPicPr>
        <p:blipFill>
          <a:blip r:embed="rId3"/>
          <a:srcRect/>
          <a:stretch/>
        </p:blipFill>
        <p:spPr>
          <a:xfrm>
            <a:off x="9229056" y="1616486"/>
            <a:ext cx="2729162" cy="2346982"/>
          </a:xfrm>
          <a:prstGeom prst="rect">
            <a:avLst/>
          </a:prstGeom>
        </p:spPr>
      </p:pic>
    </p:spTree>
    <p:extLst>
      <p:ext uri="{BB962C8B-B14F-4D97-AF65-F5344CB8AC3E}">
        <p14:creationId xmlns:p14="http://schemas.microsoft.com/office/powerpoint/2010/main" val="2372316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AE546-B6A4-58DB-7EA2-532CD4B117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9EAA27-258A-99E8-30E1-12CD9F43EE6C}"/>
              </a:ext>
            </a:extLst>
          </p:cNvPr>
          <p:cNvSpPr>
            <a:spLocks noGrp="1"/>
          </p:cNvSpPr>
          <p:nvPr>
            <p:ph type="title"/>
          </p:nvPr>
        </p:nvSpPr>
        <p:spPr/>
        <p:txBody>
          <a:bodyPr>
            <a:normAutofit/>
          </a:bodyPr>
          <a:lstStyle/>
          <a:p>
            <a:r>
              <a:rPr lang="en-US" b="1" dirty="0">
                <a:effectLst/>
                <a:latin typeface="inherit"/>
              </a:rPr>
              <a:t>9. Stateful vs Stateless Widgets</a:t>
            </a:r>
            <a:endParaRPr lang="en-US" dirty="0"/>
          </a:p>
        </p:txBody>
      </p:sp>
      <p:sp>
        <p:nvSpPr>
          <p:cNvPr id="4" name="Content Placeholder 3">
            <a:extLst>
              <a:ext uri="{FF2B5EF4-FFF2-40B4-BE49-F238E27FC236}">
                <a16:creationId xmlns:a16="http://schemas.microsoft.com/office/drawing/2014/main" id="{A5B6A58E-8584-1919-CC7B-3A20A2A85E3A}"/>
              </a:ext>
            </a:extLst>
          </p:cNvPr>
          <p:cNvSpPr>
            <a:spLocks noGrp="1"/>
          </p:cNvSpPr>
          <p:nvPr>
            <p:ph sz="half" idx="1"/>
          </p:nvPr>
        </p:nvSpPr>
        <p:spPr>
          <a:xfrm>
            <a:off x="838200" y="1825625"/>
            <a:ext cx="6592614" cy="4911506"/>
          </a:xfrm>
        </p:spPr>
        <p:txBody>
          <a:bodyPr>
            <a:normAutofit fontScale="92500" lnSpcReduction="20000"/>
          </a:bodyPr>
          <a:lstStyle/>
          <a:p>
            <a:r>
              <a:rPr lang="en-US" dirty="0"/>
              <a:t>I would cutout the whole code in the stateless class and past it in the stateful class</a:t>
            </a:r>
          </a:p>
          <a:p>
            <a:r>
              <a:rPr lang="en-US" dirty="0"/>
              <a:t>Remove the empty stateless class structure; we don’t need any more.</a:t>
            </a:r>
          </a:p>
          <a:p>
            <a:r>
              <a:rPr lang="en-US" dirty="0"/>
              <a:t>Now in the </a:t>
            </a:r>
            <a:r>
              <a:rPr lang="en-US" dirty="0" err="1"/>
              <a:t>onPressed</a:t>
            </a:r>
            <a:r>
              <a:rPr lang="en-US" dirty="0"/>
              <a:t>: change the dice number instead of just print number</a:t>
            </a:r>
          </a:p>
          <a:p>
            <a:r>
              <a:rPr lang="en-US" dirty="0"/>
              <a:t>Restart the App; at this stage reload don’t work so we need to Restart the App</a:t>
            </a:r>
          </a:p>
          <a:p>
            <a:r>
              <a:rPr lang="en-US" dirty="0"/>
              <a:t>If you notice still on click its not changing. In addition to updating the left dice number, we need to tell the complier that we need to update this state by calling the method </a:t>
            </a:r>
            <a:r>
              <a:rPr lang="en-US" dirty="0" err="1"/>
              <a:t>setState</a:t>
            </a:r>
            <a:r>
              <a:rPr lang="en-US" dirty="0"/>
              <a:t>((){}); and inside it we update the variable value.</a:t>
            </a:r>
          </a:p>
          <a:p>
            <a:endParaRPr lang="en-US" dirty="0"/>
          </a:p>
        </p:txBody>
      </p:sp>
      <p:pic>
        <p:nvPicPr>
          <p:cNvPr id="6" name="Content Placeholder 5">
            <a:extLst>
              <a:ext uri="{FF2B5EF4-FFF2-40B4-BE49-F238E27FC236}">
                <a16:creationId xmlns:a16="http://schemas.microsoft.com/office/drawing/2014/main" id="{D4331D2B-3D77-92BB-C914-1B56A3EF73F8}"/>
              </a:ext>
            </a:extLst>
          </p:cNvPr>
          <p:cNvPicPr>
            <a:picLocks noGrp="1" noChangeAspect="1"/>
          </p:cNvPicPr>
          <p:nvPr>
            <p:ph sz="half" idx="2"/>
          </p:nvPr>
        </p:nvPicPr>
        <p:blipFill>
          <a:blip r:embed="rId3"/>
          <a:srcRect/>
          <a:stretch/>
        </p:blipFill>
        <p:spPr>
          <a:xfrm>
            <a:off x="9229056" y="1616486"/>
            <a:ext cx="2729162" cy="2346982"/>
          </a:xfrm>
          <a:prstGeom prst="rect">
            <a:avLst/>
          </a:prstGeom>
        </p:spPr>
      </p:pic>
    </p:spTree>
    <p:extLst>
      <p:ext uri="{BB962C8B-B14F-4D97-AF65-F5344CB8AC3E}">
        <p14:creationId xmlns:p14="http://schemas.microsoft.com/office/powerpoint/2010/main" val="3259999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A90F7-3BB0-6755-D21A-704BC06699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F111B6-3B9D-2C45-4950-D2CA4E2BDC05}"/>
              </a:ext>
            </a:extLst>
          </p:cNvPr>
          <p:cNvSpPr>
            <a:spLocks noGrp="1"/>
          </p:cNvSpPr>
          <p:nvPr>
            <p:ph type="title"/>
          </p:nvPr>
        </p:nvSpPr>
        <p:spPr/>
        <p:txBody>
          <a:bodyPr>
            <a:normAutofit/>
          </a:bodyPr>
          <a:lstStyle/>
          <a:p>
            <a:r>
              <a:rPr lang="en-US" b="1" dirty="0">
                <a:effectLst/>
                <a:latin typeface="inherit"/>
              </a:rPr>
              <a:t>9. Stateful vs Stateless Widgets</a:t>
            </a:r>
            <a:endParaRPr lang="en-US" dirty="0"/>
          </a:p>
        </p:txBody>
      </p:sp>
      <p:sp>
        <p:nvSpPr>
          <p:cNvPr id="4" name="Content Placeholder 3">
            <a:extLst>
              <a:ext uri="{FF2B5EF4-FFF2-40B4-BE49-F238E27FC236}">
                <a16:creationId xmlns:a16="http://schemas.microsoft.com/office/drawing/2014/main" id="{E8B39680-E3D7-A81E-641A-CEEE64E3328A}"/>
              </a:ext>
            </a:extLst>
          </p:cNvPr>
          <p:cNvSpPr>
            <a:spLocks noGrp="1"/>
          </p:cNvSpPr>
          <p:nvPr>
            <p:ph sz="half" idx="1"/>
          </p:nvPr>
        </p:nvSpPr>
        <p:spPr>
          <a:xfrm>
            <a:off x="838200" y="1825625"/>
            <a:ext cx="6592614" cy="4911506"/>
          </a:xfrm>
        </p:spPr>
        <p:txBody>
          <a:bodyPr>
            <a:normAutofit lnSpcReduction="10000"/>
          </a:bodyPr>
          <a:lstStyle/>
          <a:p>
            <a:r>
              <a:rPr lang="en-US" dirty="0" err="1"/>
              <a:t>setState</a:t>
            </a:r>
            <a:r>
              <a:rPr lang="en-US" dirty="0"/>
              <a:t>() function recall the build function again so it repaint the updated widget again on the screen. Without that the value changes but screen not updated.</a:t>
            </a:r>
          </a:p>
          <a:p>
            <a:r>
              <a:rPr lang="en-US" dirty="0"/>
              <a:t>When we use </a:t>
            </a:r>
            <a:r>
              <a:rPr lang="en-US" dirty="0" err="1"/>
              <a:t>setState</a:t>
            </a:r>
            <a:r>
              <a:rPr lang="en-US" dirty="0"/>
              <a:t>() it </a:t>
            </a:r>
            <a:r>
              <a:rPr lang="en-US" dirty="0" err="1"/>
              <a:t>maked</a:t>
            </a:r>
            <a:r>
              <a:rPr lang="en-US" dirty="0"/>
              <a:t> the changes and when click event trigger the build method recall which repaint the screen and do the changes where it is marked</a:t>
            </a:r>
          </a:p>
          <a:p>
            <a:r>
              <a:rPr lang="en-US" dirty="0"/>
              <a:t>Now move forward rather to set the dice number manually we try to assign the numbers randomly </a:t>
            </a:r>
          </a:p>
          <a:p>
            <a:endParaRPr lang="en-US" dirty="0"/>
          </a:p>
        </p:txBody>
      </p:sp>
      <p:pic>
        <p:nvPicPr>
          <p:cNvPr id="6" name="Content Placeholder 5">
            <a:extLst>
              <a:ext uri="{FF2B5EF4-FFF2-40B4-BE49-F238E27FC236}">
                <a16:creationId xmlns:a16="http://schemas.microsoft.com/office/drawing/2014/main" id="{81080E53-68AC-1001-A419-EC2A9D71EBAB}"/>
              </a:ext>
            </a:extLst>
          </p:cNvPr>
          <p:cNvPicPr>
            <a:picLocks noGrp="1" noChangeAspect="1"/>
          </p:cNvPicPr>
          <p:nvPr>
            <p:ph sz="half" idx="2"/>
          </p:nvPr>
        </p:nvPicPr>
        <p:blipFill>
          <a:blip r:embed="rId3"/>
          <a:srcRect/>
          <a:stretch/>
        </p:blipFill>
        <p:spPr>
          <a:xfrm>
            <a:off x="9229056" y="1616486"/>
            <a:ext cx="2729162" cy="2346982"/>
          </a:xfrm>
          <a:prstGeom prst="rect">
            <a:avLst/>
          </a:prstGeom>
        </p:spPr>
      </p:pic>
    </p:spTree>
    <p:extLst>
      <p:ext uri="{BB962C8B-B14F-4D97-AF65-F5344CB8AC3E}">
        <p14:creationId xmlns:p14="http://schemas.microsoft.com/office/powerpoint/2010/main" val="27208191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AC6A0-9491-DE76-DE6A-1627788266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0B1D21-E9BE-1ED2-77B6-CD59606236C1}"/>
              </a:ext>
            </a:extLst>
          </p:cNvPr>
          <p:cNvSpPr>
            <a:spLocks noGrp="1"/>
          </p:cNvSpPr>
          <p:nvPr>
            <p:ph type="title"/>
          </p:nvPr>
        </p:nvSpPr>
        <p:spPr/>
        <p:txBody>
          <a:bodyPr>
            <a:normAutofit/>
          </a:bodyPr>
          <a:lstStyle/>
          <a:p>
            <a:r>
              <a:rPr lang="en-US" b="1" i="0" dirty="0">
                <a:latin typeface="inherit"/>
              </a:rPr>
              <a:t>10. Randomizing the Dice </a:t>
            </a:r>
          </a:p>
        </p:txBody>
      </p:sp>
      <p:sp>
        <p:nvSpPr>
          <p:cNvPr id="4" name="Content Placeholder 3">
            <a:extLst>
              <a:ext uri="{FF2B5EF4-FFF2-40B4-BE49-F238E27FC236}">
                <a16:creationId xmlns:a16="http://schemas.microsoft.com/office/drawing/2014/main" id="{D17A498A-E9E1-CA63-1985-C9B24290ED01}"/>
              </a:ext>
            </a:extLst>
          </p:cNvPr>
          <p:cNvSpPr>
            <a:spLocks noGrp="1"/>
          </p:cNvSpPr>
          <p:nvPr>
            <p:ph sz="half" idx="1"/>
          </p:nvPr>
        </p:nvSpPr>
        <p:spPr>
          <a:xfrm>
            <a:off x="838200" y="1825625"/>
            <a:ext cx="6592614" cy="4911506"/>
          </a:xfrm>
        </p:spPr>
        <p:txBody>
          <a:bodyPr>
            <a:normAutofit/>
          </a:bodyPr>
          <a:lstStyle/>
          <a:p>
            <a:r>
              <a:rPr lang="en-US" dirty="0"/>
              <a:t>For randomize the </a:t>
            </a:r>
            <a:r>
              <a:rPr lang="en-US" dirty="0" err="1"/>
              <a:t>leftDiceNumber</a:t>
            </a:r>
            <a:r>
              <a:rPr lang="en-US" dirty="0"/>
              <a:t>, we use Dart Math library </a:t>
            </a:r>
            <a:r>
              <a:rPr lang="en-US" dirty="0">
                <a:hlinkClick r:id="rId3"/>
              </a:rPr>
              <a:t>https://</a:t>
            </a:r>
            <a:r>
              <a:rPr lang="en-US" dirty="0" err="1">
                <a:hlinkClick r:id="rId3"/>
              </a:rPr>
              <a:t>api.flutter.dev</a:t>
            </a:r>
            <a:r>
              <a:rPr lang="en-US" dirty="0">
                <a:hlinkClick r:id="rId3"/>
              </a:rPr>
              <a:t>/flutter/dart-math/</a:t>
            </a:r>
            <a:endParaRPr lang="en-US" dirty="0"/>
          </a:p>
          <a:p>
            <a:r>
              <a:rPr lang="en-US" dirty="0"/>
              <a:t>To use the library we need to import it and call method named as Random().</a:t>
            </a:r>
            <a:r>
              <a:rPr lang="en-US" dirty="0" err="1"/>
              <a:t>nextInt</a:t>
            </a:r>
            <a:r>
              <a:rPr lang="en-US" dirty="0"/>
              <a:t>(max)</a:t>
            </a:r>
          </a:p>
          <a:p>
            <a:r>
              <a:rPr lang="en-US" dirty="0"/>
              <a:t>E.g. if max=6 that means random numbers generated from 0 to 5</a:t>
            </a:r>
          </a:p>
        </p:txBody>
      </p:sp>
      <p:pic>
        <p:nvPicPr>
          <p:cNvPr id="6" name="Content Placeholder 5">
            <a:extLst>
              <a:ext uri="{FF2B5EF4-FFF2-40B4-BE49-F238E27FC236}">
                <a16:creationId xmlns:a16="http://schemas.microsoft.com/office/drawing/2014/main" id="{6637CFF5-39AC-ADFA-417E-4489813B83DA}"/>
              </a:ext>
            </a:extLst>
          </p:cNvPr>
          <p:cNvPicPr>
            <a:picLocks noGrp="1" noChangeAspect="1"/>
          </p:cNvPicPr>
          <p:nvPr>
            <p:ph sz="half" idx="2"/>
          </p:nvPr>
        </p:nvPicPr>
        <p:blipFill>
          <a:blip r:embed="rId4"/>
          <a:srcRect/>
          <a:stretch/>
        </p:blipFill>
        <p:spPr>
          <a:xfrm>
            <a:off x="9229056" y="1616486"/>
            <a:ext cx="2729162" cy="2346982"/>
          </a:xfrm>
          <a:prstGeom prst="rect">
            <a:avLst/>
          </a:prstGeom>
        </p:spPr>
      </p:pic>
    </p:spTree>
    <p:extLst>
      <p:ext uri="{BB962C8B-B14F-4D97-AF65-F5344CB8AC3E}">
        <p14:creationId xmlns:p14="http://schemas.microsoft.com/office/powerpoint/2010/main" val="774335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1A0FF-F2B3-FAF7-BFEE-8244B02A3013}"/>
              </a:ext>
            </a:extLst>
          </p:cNvPr>
          <p:cNvSpPr>
            <a:spLocks noGrp="1"/>
          </p:cNvSpPr>
          <p:nvPr>
            <p:ph type="title"/>
          </p:nvPr>
        </p:nvSpPr>
        <p:spPr>
          <a:xfrm>
            <a:off x="838200" y="365125"/>
            <a:ext cx="3944007" cy="1325563"/>
          </a:xfrm>
        </p:spPr>
        <p:txBody>
          <a:bodyPr/>
          <a:lstStyle/>
          <a:p>
            <a:r>
              <a:rPr lang="en-US" dirty="0"/>
              <a:t>Class Task -2 </a:t>
            </a:r>
          </a:p>
        </p:txBody>
      </p:sp>
      <p:sp>
        <p:nvSpPr>
          <p:cNvPr id="3" name="Content Placeholder 2">
            <a:extLst>
              <a:ext uri="{FF2B5EF4-FFF2-40B4-BE49-F238E27FC236}">
                <a16:creationId xmlns:a16="http://schemas.microsoft.com/office/drawing/2014/main" id="{AACD8B58-B8EC-7AB2-2E83-E1B9397B391A}"/>
              </a:ext>
            </a:extLst>
          </p:cNvPr>
          <p:cNvSpPr>
            <a:spLocks noGrp="1"/>
          </p:cNvSpPr>
          <p:nvPr>
            <p:ph sz="half" idx="1"/>
          </p:nvPr>
        </p:nvSpPr>
        <p:spPr>
          <a:xfrm>
            <a:off x="838200" y="1825625"/>
            <a:ext cx="5181600" cy="2315451"/>
          </a:xfrm>
        </p:spPr>
        <p:txBody>
          <a:bodyPr>
            <a:normAutofit fontScale="92500" lnSpcReduction="20000"/>
          </a:bodyPr>
          <a:lstStyle/>
          <a:p>
            <a:r>
              <a:rPr lang="en-US" dirty="0"/>
              <a:t>If you notice still the right dice doing nothing; try to implement the same functionality as we did for the left dice.</a:t>
            </a:r>
          </a:p>
        </p:txBody>
      </p:sp>
      <p:sp>
        <p:nvSpPr>
          <p:cNvPr id="4" name="Content Placeholder 3">
            <a:extLst>
              <a:ext uri="{FF2B5EF4-FFF2-40B4-BE49-F238E27FC236}">
                <a16:creationId xmlns:a16="http://schemas.microsoft.com/office/drawing/2014/main" id="{FBC1F722-4B43-DF94-5E28-A728D8E0532A}"/>
              </a:ext>
            </a:extLst>
          </p:cNvPr>
          <p:cNvSpPr>
            <a:spLocks noGrp="1"/>
          </p:cNvSpPr>
          <p:nvPr>
            <p:ph sz="half" idx="2"/>
          </p:nvPr>
        </p:nvSpPr>
        <p:spPr>
          <a:xfrm>
            <a:off x="6172200" y="1825625"/>
            <a:ext cx="5181600" cy="2105244"/>
          </a:xfrm>
        </p:spPr>
        <p:txBody>
          <a:bodyPr>
            <a:normAutofit fontScale="92500" lnSpcReduction="20000"/>
          </a:bodyPr>
          <a:lstStyle/>
          <a:p>
            <a:r>
              <a:rPr lang="en-US" dirty="0"/>
              <a:t>We wanted both dice to change when one of the buttons is pressed e.g. if I click left dice then first it change itself and also change the right dice too; or if I click right dice then first it change itself then it change left dice too</a:t>
            </a:r>
          </a:p>
        </p:txBody>
      </p:sp>
      <p:sp>
        <p:nvSpPr>
          <p:cNvPr id="5" name="Title 1">
            <a:extLst>
              <a:ext uri="{FF2B5EF4-FFF2-40B4-BE49-F238E27FC236}">
                <a16:creationId xmlns:a16="http://schemas.microsoft.com/office/drawing/2014/main" id="{DBA4932B-54B3-3BBE-FBB6-F5283182C590}"/>
              </a:ext>
            </a:extLst>
          </p:cNvPr>
          <p:cNvSpPr txBox="1">
            <a:spLocks/>
          </p:cNvSpPr>
          <p:nvPr/>
        </p:nvSpPr>
        <p:spPr>
          <a:xfrm>
            <a:off x="6172200" y="365124"/>
            <a:ext cx="394400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r>
              <a:rPr lang="en-US" dirty="0"/>
              <a:t>Class Task -3 </a:t>
            </a:r>
          </a:p>
        </p:txBody>
      </p:sp>
      <p:sp>
        <p:nvSpPr>
          <p:cNvPr id="6" name="Title 1">
            <a:extLst>
              <a:ext uri="{FF2B5EF4-FFF2-40B4-BE49-F238E27FC236}">
                <a16:creationId xmlns:a16="http://schemas.microsoft.com/office/drawing/2014/main" id="{8460CE76-1726-B08C-576D-EEAD8C73651B}"/>
              </a:ext>
            </a:extLst>
          </p:cNvPr>
          <p:cNvSpPr txBox="1">
            <a:spLocks/>
          </p:cNvSpPr>
          <p:nvPr/>
        </p:nvSpPr>
        <p:spPr>
          <a:xfrm>
            <a:off x="838199" y="3613231"/>
            <a:ext cx="394400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r>
              <a:rPr lang="en-US" dirty="0"/>
              <a:t>Class Task -4 </a:t>
            </a:r>
          </a:p>
        </p:txBody>
      </p:sp>
      <p:sp>
        <p:nvSpPr>
          <p:cNvPr id="7" name="Content Placeholder 2">
            <a:extLst>
              <a:ext uri="{FF2B5EF4-FFF2-40B4-BE49-F238E27FC236}">
                <a16:creationId xmlns:a16="http://schemas.microsoft.com/office/drawing/2014/main" id="{0DA790C8-5A2D-3E4F-EBF7-C31070DC8DEC}"/>
              </a:ext>
            </a:extLst>
          </p:cNvPr>
          <p:cNvSpPr txBox="1">
            <a:spLocks/>
          </p:cNvSpPr>
          <p:nvPr/>
        </p:nvSpPr>
        <p:spPr>
          <a:xfrm>
            <a:off x="838200" y="4542549"/>
            <a:ext cx="10439400" cy="23154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There are lots of repeated codes; we know that for the repeated codes we declare function and call that function everywhere in place of repeated codes; your task is to declare the function which can be used in the </a:t>
            </a:r>
            <a:r>
              <a:rPr lang="en-US" dirty="0" err="1"/>
              <a:t>onPressed</a:t>
            </a:r>
            <a:r>
              <a:rPr lang="en-US" dirty="0"/>
              <a:t> action of both dices</a:t>
            </a:r>
          </a:p>
        </p:txBody>
      </p:sp>
    </p:spTree>
    <p:extLst>
      <p:ext uri="{BB962C8B-B14F-4D97-AF65-F5344CB8AC3E}">
        <p14:creationId xmlns:p14="http://schemas.microsoft.com/office/powerpoint/2010/main" val="35188634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3DA48-6591-CC87-F5A3-93F81C4C2FCA}"/>
              </a:ext>
            </a:extLst>
          </p:cNvPr>
          <p:cNvSpPr>
            <a:spLocks noGrp="1"/>
          </p:cNvSpPr>
          <p:nvPr>
            <p:ph type="title"/>
          </p:nvPr>
        </p:nvSpPr>
        <p:spPr/>
        <p:txBody>
          <a:bodyPr>
            <a:normAutofit/>
          </a:bodyPr>
          <a:lstStyle/>
          <a:p>
            <a:r>
              <a:rPr lang="en-US" dirty="0"/>
              <a:t>RESOURCES – </a:t>
            </a:r>
            <a:r>
              <a:rPr lang="en-US" b="1" i="0" dirty="0">
                <a:solidFill>
                  <a:srgbClr val="F0F6FC"/>
                </a:solidFill>
                <a:effectLst/>
                <a:latin typeface="-apple-system"/>
              </a:rPr>
              <a:t>Build Apps with State</a:t>
            </a:r>
            <a:endParaRPr lang="en-US" dirty="0"/>
          </a:p>
        </p:txBody>
      </p:sp>
      <p:sp>
        <p:nvSpPr>
          <p:cNvPr id="3" name="Content Placeholder 2">
            <a:extLst>
              <a:ext uri="{FF2B5EF4-FFF2-40B4-BE49-F238E27FC236}">
                <a16:creationId xmlns:a16="http://schemas.microsoft.com/office/drawing/2014/main" id="{4ED26370-C7FC-B778-691E-6D580FC2ADC7}"/>
              </a:ext>
            </a:extLst>
          </p:cNvPr>
          <p:cNvSpPr>
            <a:spLocks noGrp="1"/>
          </p:cNvSpPr>
          <p:nvPr>
            <p:ph sz="half" idx="1"/>
          </p:nvPr>
        </p:nvSpPr>
        <p:spPr/>
        <p:txBody>
          <a:bodyPr>
            <a:normAutofit/>
          </a:bodyPr>
          <a:lstStyle/>
          <a:p>
            <a:pPr marL="514350" indent="-514350">
              <a:buFont typeface="+mj-lt"/>
              <a:buAutoNum type="arabicPeriod"/>
            </a:pPr>
            <a:r>
              <a:rPr lang="en-US" b="0" i="0" dirty="0">
                <a:effectLst/>
                <a:latin typeface="Google Sans"/>
                <a:hlinkClick r:id="rId3">
                  <a:extLst>
                    <a:ext uri="{A12FA001-AC4F-418D-AE19-62706E023703}">
                      <ahyp:hlinkClr xmlns:ahyp="http://schemas.microsoft.com/office/drawing/2018/hyperlinkcolor" val="tx"/>
                    </a:ext>
                  </a:extLst>
                </a:hlinkClick>
              </a:rPr>
              <a:t>Expanded class</a:t>
            </a:r>
            <a:endParaRPr lang="en-US" b="0" i="0" dirty="0">
              <a:effectLst/>
              <a:latin typeface="Google Sans"/>
            </a:endParaRPr>
          </a:p>
          <a:p>
            <a:pPr marL="514350" indent="-514350">
              <a:buFont typeface="+mj-lt"/>
              <a:buAutoNum type="arabicPeriod"/>
            </a:pPr>
            <a:r>
              <a:rPr lang="en-US" b="0" i="0" dirty="0">
                <a:effectLst/>
                <a:latin typeface="Google Sans"/>
                <a:hlinkClick r:id="rId4">
                  <a:extLst>
                    <a:ext uri="{A12FA001-AC4F-418D-AE19-62706E023703}">
                      <ahyp:hlinkClr xmlns:ahyp="http://schemas.microsoft.com/office/drawing/2018/hyperlinkcolor" val="tx"/>
                    </a:ext>
                  </a:extLst>
                </a:hlinkClick>
              </a:rPr>
              <a:t>Flexible class</a:t>
            </a:r>
            <a:endParaRPr lang="en-US" b="0" i="0" dirty="0">
              <a:effectLst/>
              <a:latin typeface="Google Sans"/>
            </a:endParaRPr>
          </a:p>
          <a:p>
            <a:pPr marL="514350" indent="-514350">
              <a:buFont typeface="+mj-lt"/>
              <a:buAutoNum type="arabicPeriod"/>
            </a:pPr>
            <a:r>
              <a:rPr lang="en-US" dirty="0">
                <a:latin typeface="Google Sans"/>
                <a:hlinkClick r:id="rId5">
                  <a:extLst>
                    <a:ext uri="{A12FA001-AC4F-418D-AE19-62706E023703}">
                      <ahyp:hlinkClr xmlns:ahyp="http://schemas.microsoft.com/office/drawing/2018/hyperlinkcolor" val="tx"/>
                    </a:ext>
                  </a:extLst>
                </a:hlinkClick>
              </a:rPr>
              <a:t>Actions class</a:t>
            </a:r>
            <a:endParaRPr lang="en-US" dirty="0">
              <a:latin typeface="Google Sans"/>
            </a:endParaRPr>
          </a:p>
          <a:p>
            <a:pPr marL="514350" indent="-514350">
              <a:buFont typeface="+mj-lt"/>
              <a:buAutoNum type="arabicPeriod"/>
            </a:pPr>
            <a:r>
              <a:rPr lang="en-US" b="0" i="0" dirty="0">
                <a:effectLst/>
                <a:latin typeface="Google Sans"/>
                <a:hlinkClick r:id="rId6">
                  <a:extLst>
                    <a:ext uri="{A12FA001-AC4F-418D-AE19-62706E023703}">
                      <ahyp:hlinkClr xmlns:ahyp="http://schemas.microsoft.com/office/drawing/2018/hyperlinkcolor" val="tx"/>
                    </a:ext>
                  </a:extLst>
                </a:hlinkClick>
              </a:rPr>
              <a:t>ElevatedButton class</a:t>
            </a:r>
            <a:endParaRPr lang="en-US" dirty="0">
              <a:latin typeface="Google Sans"/>
            </a:endParaRPr>
          </a:p>
          <a:p>
            <a:pPr marL="514350" indent="-514350">
              <a:buFont typeface="+mj-lt"/>
              <a:buAutoNum type="arabicPeriod"/>
            </a:pPr>
            <a:r>
              <a:rPr lang="en-US" b="0" i="0" dirty="0">
                <a:effectLst/>
                <a:latin typeface="Google Sans"/>
                <a:hlinkClick r:id="rId7">
                  <a:extLst>
                    <a:ext uri="{A12FA001-AC4F-418D-AE19-62706E023703}">
                      <ahyp:hlinkClr xmlns:ahyp="http://schemas.microsoft.com/office/drawing/2018/hyperlinkcolor" val="tx"/>
                    </a:ext>
                  </a:extLst>
                </a:hlinkClick>
              </a:rPr>
              <a:t>StatefulWidget class</a:t>
            </a:r>
            <a:endParaRPr lang="en-US" b="0" i="0" dirty="0">
              <a:effectLst/>
              <a:latin typeface="Google Sans"/>
            </a:endParaRPr>
          </a:p>
          <a:p>
            <a:pPr marL="514350" indent="-514350">
              <a:buFont typeface="+mj-lt"/>
              <a:buAutoNum type="arabicPeriod"/>
            </a:pPr>
            <a:r>
              <a:rPr lang="en-US" b="0" i="0" dirty="0">
                <a:effectLst/>
                <a:latin typeface="Google Sans"/>
                <a:hlinkClick r:id="rId8">
                  <a:extLst>
                    <a:ext uri="{A12FA001-AC4F-418D-AE19-62706E023703}">
                      <ahyp:hlinkClr xmlns:ahyp="http://schemas.microsoft.com/office/drawing/2018/hyperlinkcolor" val="tx"/>
                    </a:ext>
                  </a:extLst>
                </a:hlinkClick>
              </a:rPr>
              <a:t>StatelessWidget class</a:t>
            </a:r>
            <a:endParaRPr lang="en-US" b="0" i="0" dirty="0">
              <a:effectLst/>
              <a:latin typeface="Google Sans"/>
            </a:endParaRPr>
          </a:p>
        </p:txBody>
      </p:sp>
      <p:sp>
        <p:nvSpPr>
          <p:cNvPr id="6" name="Content Placeholder 5">
            <a:extLst>
              <a:ext uri="{FF2B5EF4-FFF2-40B4-BE49-F238E27FC236}">
                <a16:creationId xmlns:a16="http://schemas.microsoft.com/office/drawing/2014/main" id="{BF1F5DF2-7CBF-48EE-EA3A-D80D3B929133}"/>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184448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1508</TotalTime>
  <Words>1838</Words>
  <Application>Microsoft Macintosh PowerPoint</Application>
  <PresentationFormat>Widescreen</PresentationFormat>
  <Paragraphs>148</Paragraphs>
  <Slides>23</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-apple-system</vt:lpstr>
      <vt:lpstr>Aptos</vt:lpstr>
      <vt:lpstr>Aptos Display</vt:lpstr>
      <vt:lpstr>Arial</vt:lpstr>
      <vt:lpstr>Google Sans</vt:lpstr>
      <vt:lpstr>inherit</vt:lpstr>
      <vt:lpstr>Metropolis</vt:lpstr>
      <vt:lpstr>Office Theme</vt:lpstr>
      <vt:lpstr>Dicee Building Apps with State</vt:lpstr>
      <vt:lpstr>Creating Flutter Apps with Functionality</vt:lpstr>
      <vt:lpstr>Topics in this Lecture</vt:lpstr>
      <vt:lpstr>A Stateful Dice App</vt:lpstr>
      <vt:lpstr>A Stateful Dice App – Change App Icon</vt:lpstr>
      <vt:lpstr>2.   Using the Expanded Widget for Flexible Layouts</vt:lpstr>
      <vt:lpstr>2.   Using the Expanded Widget for Flexible Layouts</vt:lpstr>
      <vt:lpstr>3. How to Use Intention Actions</vt:lpstr>
      <vt:lpstr>4.   Detecting User Interaction with Flutter Buttons</vt:lpstr>
      <vt:lpstr>4.   Detecting User Interaction with Flutter Buttons</vt:lpstr>
      <vt:lpstr>4.   Detecting User Interaction with Flutter Buttons</vt:lpstr>
      <vt:lpstr>5. Dart Functions – Part – 1</vt:lpstr>
      <vt:lpstr>5. Dart Functions – Part – 1</vt:lpstr>
      <vt:lpstr>6. Making the Dice Image Change Reactively</vt:lpstr>
      <vt:lpstr>7. Dart Variables</vt:lpstr>
      <vt:lpstr>8. Dart Types</vt:lpstr>
      <vt:lpstr>9. Stateful vs Stateless Widgets</vt:lpstr>
      <vt:lpstr>9. Stateful vs Stateless Widgets</vt:lpstr>
      <vt:lpstr>9. Stateful vs Stateless Widgets</vt:lpstr>
      <vt:lpstr>9. Stateful vs Stateless Widgets</vt:lpstr>
      <vt:lpstr>10. Randomizing the Dice </vt:lpstr>
      <vt:lpstr>Class Task -2 </vt:lpstr>
      <vt:lpstr>RESOURCES – Build Apps with State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Mustafa Bamboat</dc:creator>
  <cp:lastModifiedBy>Mustafa Bamboat</cp:lastModifiedBy>
  <cp:revision>121</cp:revision>
  <dcterms:created xsi:type="dcterms:W3CDTF">2026-02-17T22:45:36Z</dcterms:created>
  <dcterms:modified xsi:type="dcterms:W3CDTF">2026-02-27T19:31:22Z</dcterms:modified>
</cp:coreProperties>
</file>